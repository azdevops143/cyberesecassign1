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106984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5400" b="1">
                <a:solidFill>
                  <a:srgbClr val="06B6D4"/>
                </a:solidFill>
                <a:latin typeface="Trebuchet MS"/>
              </a:defRPr>
            </a:pPr>
            <a:r>
              <a:t>HEXA FORCE CONTAINER LAB</a:t>
            </a:r>
          </a:p>
          <a:p>
            <a:pPr>
              <a:spcAft>
                <a:spcPts val="1400"/>
              </a:spcAft>
              <a:defRPr sz="2600">
                <a:solidFill>
                  <a:srgbClr val="FFFFFF"/>
                </a:solidFill>
                <a:latin typeface="Trebuchet MS"/>
              </a:defRPr>
            </a:pPr>
            <a:r>
              <a:t>4-Stage DevSecOps Attack &amp; Mitigation Laboratory</a:t>
            </a:r>
          </a:p>
          <a:p>
            <a:pPr>
              <a:defRPr sz="1300" i="1">
                <a:solidFill>
                  <a:srgbClr val="94A3B8"/>
                </a:solidFill>
                <a:latin typeface="Calibri"/>
              </a:defRPr>
            </a:pPr>
            <a:r>
              <a:t>Presented by Hexa Force | Cryptographically Signed Container Architectures, OIDC Trust, and DevSecOps Containment Rules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94A3B8"/>
                </a:solidFill>
                <a:latin typeface="Trebuchet MS"/>
              </a:defRPr>
            </a:pPr>
            <a:r>
              <a:t>PIPELINE ORCHESTRATION &amp; LAB MANUAL  |  HEXA FORCE INTEGRATION BRIEFING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Trebuchet MS"/>
              </a:defRPr>
            </a:pPr>
            <a:r>
              <a:t>EXECUTIVE PRESENTATION GUIDE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Trebuchet MS"/>
              </a:defRPr>
            </a:pPr>
            <a:r>
              <a:t>Briefing &amp; Laboratory 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502920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FFFFF"/>
                </a:solidFill>
                <a:latin typeface="Calibri"/>
              </a:defRPr>
            </a:pPr>
            <a:r>
              <a:t>•  01. The 4 Security Pillars Overview</a:t>
            </a:r>
          </a:p>
          <a:p>
            <a:pPr>
              <a:spcAft>
                <a:spcPts val="1000"/>
              </a:spcAft>
              <a:defRPr sz="1400">
                <a:solidFill>
                  <a:srgbClr val="94A3B8"/>
                </a:solidFill>
                <a:latin typeface="Calibri"/>
              </a:defRPr>
            </a:pPr>
            <a:r>
              <a:t>   •  Key definitions, threat structures, and container security scope.</a:t>
            </a:r>
          </a:p>
          <a:p>
            <a:pPr>
              <a:spcAft>
                <a:spcPts val="1000"/>
              </a:spcAft>
              <a:defRPr sz="1500" b="1">
                <a:solidFill>
                  <a:srgbClr val="FFFFFF"/>
                </a:solidFill>
                <a:latin typeface="Calibri"/>
              </a:defRPr>
            </a:pPr>
            <a:r>
              <a:t>•  02. Stage 1: Host Kernel Isolation</a:t>
            </a:r>
          </a:p>
          <a:p>
            <a:pPr>
              <a:spcAft>
                <a:spcPts val="1000"/>
              </a:spcAft>
              <a:defRPr sz="1400">
                <a:solidFill>
                  <a:srgbClr val="94A3B8"/>
                </a:solidFill>
                <a:latin typeface="Calibri"/>
              </a:defRPr>
            </a:pPr>
            <a:r>
              <a:t>   •  Dirty COW (CVE-2016-5195) C exploit simulation and outcomes.</a:t>
            </a:r>
          </a:p>
          <a:p>
            <a:pPr>
              <a:spcAft>
                <a:spcPts val="1000"/>
              </a:spcAft>
              <a:defRPr sz="1500" b="1">
                <a:solidFill>
                  <a:srgbClr val="FFFFFF"/>
                </a:solidFill>
                <a:latin typeface="Calibri"/>
              </a:defRPr>
            </a:pPr>
            <a:r>
              <a:t>•  03. Stage 2: Process &amp; Capabilities Isolation</a:t>
            </a:r>
          </a:p>
          <a:p>
            <a:pPr>
              <a:spcAft>
                <a:spcPts val="1000"/>
              </a:spcAft>
              <a:defRPr sz="1400">
                <a:solidFill>
                  <a:srgbClr val="94A3B8"/>
                </a:solidFill>
                <a:latin typeface="Calibri"/>
              </a:defRPr>
            </a:pPr>
            <a:r>
              <a:t>   •  Shared PID namespace boundaries and evaluation of CAP_SYS_PTRACE.</a:t>
            </a:r>
          </a:p>
          <a:p>
            <a:pPr>
              <a:spcAft>
                <a:spcPts val="1000"/>
              </a:spcAft>
              <a:defRPr sz="1500" b="1">
                <a:solidFill>
                  <a:srgbClr val="FFFFFF"/>
                </a:solidFill>
                <a:latin typeface="Calibri"/>
              </a:defRPr>
            </a:pPr>
            <a:r>
              <a:t>•  04. Stage 3: Daemon &amp; API Security</a:t>
            </a:r>
          </a:p>
          <a:p>
            <a:pPr>
              <a:spcAft>
                <a:spcPts val="1000"/>
              </a:spcAft>
              <a:defRPr sz="1400">
                <a:solidFill>
                  <a:srgbClr val="94A3B8"/>
                </a:solidFill>
                <a:latin typeface="Calibri"/>
              </a:defRPr>
            </a:pPr>
            <a:r>
              <a:t>   •  Mitigating exposed docker.sock socket API mounts.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645920"/>
            <a:ext cx="521208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FFFFF"/>
                </a:solidFill>
                <a:latin typeface="Calibri"/>
              </a:defRPr>
            </a:pPr>
            <a:r>
              <a:t>•  05. Stage 4: Volume &amp; Filesystem Security</a:t>
            </a:r>
          </a:p>
          <a:p>
            <a:pPr>
              <a:spcAft>
                <a:spcPts val="1000"/>
              </a:spcAft>
              <a:defRPr sz="1400">
                <a:solidFill>
                  <a:srgbClr val="94A3B8"/>
                </a:solidFill>
                <a:latin typeface="Calibri"/>
              </a:defRPr>
            </a:pPr>
            <a:r>
              <a:t>   •  Writable host mount points and path traversal cron injection.</a:t>
            </a:r>
          </a:p>
          <a:p>
            <a:pPr>
              <a:spcAft>
                <a:spcPts val="1000"/>
              </a:spcAft>
              <a:defRPr sz="1500" b="1">
                <a:solidFill>
                  <a:srgbClr val="FFFFFF"/>
                </a:solidFill>
                <a:latin typeface="Calibri"/>
              </a:defRPr>
            </a:pPr>
            <a:r>
              <a:t>•  06. Cryptographic Container Signing</a:t>
            </a:r>
          </a:p>
          <a:p>
            <a:pPr>
              <a:spcAft>
                <a:spcPts val="1000"/>
              </a:spcAft>
              <a:defRPr sz="1400">
                <a:solidFill>
                  <a:srgbClr val="94A3B8"/>
                </a:solidFill>
                <a:latin typeface="Calibri"/>
              </a:defRPr>
            </a:pPr>
            <a:r>
              <a:t>   •  Keyless Cosign OIDC authentication and trust chain verification.</a:t>
            </a:r>
          </a:p>
          <a:p>
            <a:pPr>
              <a:spcAft>
                <a:spcPts val="1000"/>
              </a:spcAft>
              <a:defRPr sz="1500" b="1">
                <a:solidFill>
                  <a:srgbClr val="FFFFFF"/>
                </a:solidFill>
                <a:latin typeface="Calibri"/>
              </a:defRPr>
            </a:pPr>
            <a:r>
              <a:t>•  07. GitHub Actions CI/CD Integration</a:t>
            </a:r>
          </a:p>
          <a:p>
            <a:pPr>
              <a:spcAft>
                <a:spcPts val="1000"/>
              </a:spcAft>
              <a:defRPr sz="1400">
                <a:solidFill>
                  <a:srgbClr val="94A3B8"/>
                </a:solidFill>
                <a:latin typeface="Calibri"/>
              </a:defRPr>
            </a:pPr>
            <a:r>
              <a:t>   •  Case-compliant image compilation, signing, and pipeline execution.</a:t>
            </a:r>
          </a:p>
          <a:p>
            <a:pPr>
              <a:spcAft>
                <a:spcPts val="1000"/>
              </a:spcAft>
              <a:defRPr sz="1500" b="1">
                <a:solidFill>
                  <a:srgbClr val="FFFFFF"/>
                </a:solidFill>
                <a:latin typeface="Calibri"/>
              </a:defRPr>
            </a:pPr>
            <a:r>
              <a:t>•  08. Hexa Force Conclusion</a:t>
            </a:r>
          </a:p>
          <a:p>
            <a:pPr>
              <a:spcAft>
                <a:spcPts val="1000"/>
              </a:spcAft>
              <a:defRPr sz="1400">
                <a:solidFill>
                  <a:srgbClr val="94A3B8"/>
                </a:solidFill>
                <a:latin typeface="Calibri"/>
              </a:defRPr>
            </a:pPr>
            <a:r>
              <a:t>   •  Key lessons, takeaways, and final architecture summaries.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Trebuchet MS"/>
              </a:defRPr>
            </a:pPr>
            <a:r>
              <a:t>LABORATORY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Trebuchet MS"/>
              </a:defRPr>
            </a:pPr>
            <a:r>
              <a:t>The 4 Security Pillars of Containers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2468880" cy="4389120"/>
          </a:xfrm>
          <a:prstGeom prst="rect">
            <a:avLst/>
          </a:prstGeom>
          <a:solidFill>
            <a:srgbClr val="1E293B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400"/>
              </a:spcAft>
              <a:defRPr sz="1400" b="1">
                <a:solidFill>
                  <a:srgbClr val="FFFFFF"/>
                </a:solidFill>
                <a:latin typeface="Trebuchet MS"/>
              </a:defRPr>
            </a:pPr>
            <a:r>
              <a:t>1. HOST KERNEL</a:t>
            </a:r>
          </a:p>
          <a:p>
            <a:pPr>
              <a:spcAft>
                <a:spcPts val="800"/>
              </a:spcAft>
              <a:defRPr sz="1100" b="1">
                <a:solidFill>
                  <a:srgbClr val="EF4444"/>
                </a:solidFill>
                <a:latin typeface="Calibri"/>
              </a:defRPr>
            </a:pPr>
            <a:r>
              <a:t>Isolation Boundary</a:t>
            </a:r>
          </a:p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• Containers share host OS kernel resources.</a:t>
            </a:r>
          </a:p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• Race condition exploits (e.g. Dirty COW) bypass all virtual restrictions.</a:t>
            </a:r>
          </a:p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• Demonstrates kernel memory isolation limits.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0" y="1645920"/>
            <a:ext cx="2468880" cy="4389120"/>
          </a:xfrm>
          <a:prstGeom prst="rect">
            <a:avLst/>
          </a:prstGeom>
          <a:solidFill>
            <a:srgbClr val="1E293B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400"/>
              </a:spcAft>
              <a:defRPr sz="1400" b="1">
                <a:solidFill>
                  <a:srgbClr val="FFFFFF"/>
                </a:solidFill>
                <a:latin typeface="Trebuchet MS"/>
              </a:defRPr>
            </a:pPr>
            <a:r>
              <a:t>2. CAPABILITIES</a:t>
            </a:r>
          </a:p>
          <a:p>
            <a:pPr>
              <a:spcAft>
                <a:spcPts val="800"/>
              </a:spcAft>
              <a:defRPr sz="1100" b="1">
                <a:solidFill>
                  <a:srgbClr val="06B6D4"/>
                </a:solidFill>
                <a:latin typeface="Calibri"/>
              </a:defRPr>
            </a:pPr>
            <a:r>
              <a:t>Process Boundaries</a:t>
            </a:r>
          </a:p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• Process namespace mapping regulates visibility.</a:t>
            </a:r>
          </a:p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• Over-privileged debug access (CAP_SYS_PTRACE) allows host code injection.</a:t>
            </a:r>
          </a:p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• Demonstrates process capability containment.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645920"/>
            <a:ext cx="2468880" cy="4389120"/>
          </a:xfrm>
          <a:prstGeom prst="rect">
            <a:avLst/>
          </a:prstGeom>
          <a:solidFill>
            <a:srgbClr val="1E293B"/>
          </a:solidFill>
          <a:ln w="19050">
            <a:solidFill>
              <a:srgbClr val="EAB30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400"/>
              </a:spcAft>
              <a:defRPr sz="1400" b="1">
                <a:solidFill>
                  <a:srgbClr val="FFFFFF"/>
                </a:solidFill>
                <a:latin typeface="Trebuchet MS"/>
              </a:defRPr>
            </a:pPr>
            <a:r>
              <a:t>3. ENGINE API</a:t>
            </a:r>
          </a:p>
          <a:p>
            <a:pPr>
              <a:spcAft>
                <a:spcPts val="800"/>
              </a:spcAft>
              <a:defRPr sz="1100" b="1">
                <a:solidFill>
                  <a:srgbClr val="EAB308"/>
                </a:solidFill>
                <a:latin typeface="Calibri"/>
              </a:defRPr>
            </a:pPr>
            <a:r>
              <a:t>Daemon Protection</a:t>
            </a:r>
          </a:p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• Mounting docker.sock grants host root access.</a:t>
            </a:r>
          </a:p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• Attacker controls engine and launches sibling mounts.</a:t>
            </a:r>
          </a:p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• Demonstrates socket boundary control.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0" y="1645920"/>
            <a:ext cx="2468880" cy="4389120"/>
          </a:xfrm>
          <a:prstGeom prst="rect">
            <a:avLst/>
          </a:prstGeom>
          <a:solidFill>
            <a:srgbClr val="1E293B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400"/>
              </a:spcAft>
              <a:defRPr sz="1400" b="1">
                <a:solidFill>
                  <a:srgbClr val="FFFFFF"/>
                </a:solidFill>
                <a:latin typeface="Trebuchet MS"/>
              </a:defRPr>
            </a:pPr>
            <a:r>
              <a:t>4. VOLUME</a:t>
            </a:r>
          </a:p>
          <a:p>
            <a:pPr>
              <a:spcAft>
                <a:spcPts val="800"/>
              </a:spcAft>
              <a:defRPr sz="1100" b="1">
                <a:solidFill>
                  <a:srgbClr val="22C55E"/>
                </a:solidFill>
                <a:latin typeface="Calibri"/>
              </a:defRPr>
            </a:pPr>
            <a:r>
              <a:t>Filesystem Isolation</a:t>
            </a:r>
          </a:p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• Writable mounts allow local file traversal.</a:t>
            </a:r>
          </a:p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• Exploit writes root task files to host cron.</a:t>
            </a:r>
          </a:p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• Demonstrates mount point security rule options.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Trebuchet MS"/>
              </a:defRPr>
            </a:pPr>
            <a:r>
              <a:t>STAGE 1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Trebuchet MS"/>
              </a:defRPr>
            </a:pPr>
            <a:r>
              <a:t>Stage 1: Host Kernel Isolation (Dirty COW)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548640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FFFFF"/>
                </a:solidFill>
                <a:latin typeface="Calibri"/>
              </a:defRPr>
            </a:pPr>
            <a:r>
              <a:t>•  Exploit Concept (CVE-2016-5195)</a:t>
            </a:r>
          </a:p>
          <a:p>
            <a:pPr>
              <a:spcAft>
                <a:spcPts val="1000"/>
              </a:spcAft>
              <a:defRPr sz="1400">
                <a:solidFill>
                  <a:srgbClr val="94A3B8"/>
                </a:solidFill>
                <a:latin typeface="Calibri"/>
              </a:defRPr>
            </a:pPr>
            <a:r>
              <a:t>   •  A kernel-level race condition in Linux's Copy-on-Write (COW) system.</a:t>
            </a:r>
          </a:p>
          <a:p>
            <a:pPr>
              <a:spcAft>
                <a:spcPts val="1000"/>
              </a:spcAft>
              <a:defRPr sz="1400">
                <a:solidFill>
                  <a:srgbClr val="94A3B8"/>
                </a:solidFill>
                <a:latin typeface="Calibri"/>
              </a:defRPr>
            </a:pPr>
            <a:r>
              <a:t>   •  Overwrites read-only cache pages using procfs self-memory loops.</a:t>
            </a:r>
          </a:p>
          <a:p>
            <a:pPr>
              <a:spcAft>
                <a:spcPts val="1000"/>
              </a:spcAft>
              <a:defRPr sz="1500" b="1">
                <a:solidFill>
                  <a:srgbClr val="EF4444"/>
                </a:solidFill>
                <a:latin typeface="Calibri"/>
              </a:defRPr>
            </a:pPr>
            <a:r>
              <a:t>🔴  Exploit Execution</a:t>
            </a:r>
          </a:p>
          <a:p>
            <a:pPr>
              <a:spcAft>
                <a:spcPts val="1000"/>
              </a:spcAft>
              <a:defRPr sz="1400">
                <a:solidFill>
                  <a:srgbClr val="94A3B8"/>
                </a:solidFill>
                <a:latin typeface="Calibri"/>
              </a:defRPr>
            </a:pPr>
            <a:r>
              <a:t>   •  Low-privilege container user compiles and runs dirtyc0w.c.</a:t>
            </a:r>
          </a:p>
          <a:p>
            <a:pPr>
              <a:spcAft>
                <a:spcPts val="1000"/>
              </a:spcAft>
              <a:defRPr sz="1400">
                <a:solidFill>
                  <a:srgbClr val="94A3B8"/>
                </a:solidFill>
                <a:latin typeface="Calibri"/>
              </a:defRPr>
            </a:pPr>
            <a:r>
              <a:t>   •  Targets a read-only root file: /var/secret/target.txt.</a:t>
            </a:r>
          </a:p>
          <a:p>
            <a:pPr>
              <a:spcAft>
                <a:spcPts val="1000"/>
              </a:spcAft>
              <a:defRPr sz="1500" b="1">
                <a:solidFill>
                  <a:srgbClr val="22C55E"/>
                </a:solidFill>
                <a:latin typeface="Calibri"/>
              </a:defRPr>
            </a:pPr>
            <a:r>
              <a:t>🟢  Automated Protection</a:t>
            </a:r>
          </a:p>
          <a:p>
            <a:pPr>
              <a:spcAft>
                <a:spcPts val="1000"/>
              </a:spcAft>
              <a:defRPr sz="1400">
                <a:solidFill>
                  <a:srgbClr val="94A3B8"/>
                </a:solidFill>
                <a:latin typeface="Calibri"/>
              </a:defRPr>
            </a:pPr>
            <a:r>
              <a:t>   •  On modern kernels (like GitHub runners), page faults are atomic.</a:t>
            </a:r>
          </a:p>
          <a:p>
            <a:pPr>
              <a:spcAft>
                <a:spcPts val="1000"/>
              </a:spcAft>
              <a:defRPr sz="1400">
                <a:solidFill>
                  <a:srgbClr val="94A3B8"/>
                </a:solidFill>
                <a:latin typeface="Calibri"/>
              </a:defRPr>
            </a:pPr>
            <a:r>
              <a:t>   •  The race condition fails safely (Exploit Prevented).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0" y="1645920"/>
            <a:ext cx="4846320" cy="4389120"/>
          </a:xfrm>
          <a:prstGeom prst="rect">
            <a:avLst/>
          </a:prstGeom>
          <a:solidFill>
            <a:srgbClr val="1E293B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400"/>
              </a:spcAft>
              <a:defRPr sz="1400" b="1">
                <a:solidFill>
                  <a:srgbClr val="FFFFFF"/>
                </a:solidFill>
                <a:latin typeface="Trebuchet MS"/>
              </a:defRPr>
            </a:pPr>
            <a:r>
              <a:t>DETECTION &amp; MITIGATION BLUEPRINT</a:t>
            </a:r>
          </a:p>
          <a:p>
            <a:pPr>
              <a:spcAft>
                <a:spcPts val="800"/>
              </a:spcAft>
              <a:defRPr sz="1100" b="1">
                <a:solidFill>
                  <a:srgbClr val="EF4444"/>
                </a:solidFill>
                <a:latin typeface="Calibri"/>
              </a:defRPr>
            </a:pPr>
            <a:r>
              <a:t>Hexa Force Remediation</a:t>
            </a:r>
          </a:p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• Detection: Static scan container kernels for CVE-2016-5195 signatures.</a:t>
            </a:r>
          </a:p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• Detection: Audit syscall sequences using seccomp/madvise logs.</a:t>
            </a:r>
          </a:p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• Mitigation: Keep the underlying host OS kernel fully patched.</a:t>
            </a:r>
          </a:p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• Mitigation: Implement secure sandboxed runtimes (gVisor) to isolate guest system calls.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Trebuchet MS"/>
              </a:defRPr>
            </a:pPr>
            <a:r>
              <a:t>STAGE 2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Trebuchet MS"/>
              </a:defRPr>
            </a:pPr>
            <a:r>
              <a:t>Stage 2: Process &amp; Capabilities Isolation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548640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FFFFF"/>
                </a:solidFill>
                <a:latin typeface="Calibri"/>
              </a:defRPr>
            </a:pPr>
            <a:r>
              <a:t>•  Exploit Concept (CAP_SYS_PTRACE)</a:t>
            </a:r>
          </a:p>
          <a:p>
            <a:pPr>
              <a:spcAft>
                <a:spcPts val="1000"/>
              </a:spcAft>
              <a:defRPr sz="1400">
                <a:solidFill>
                  <a:srgbClr val="94A3B8"/>
                </a:solidFill>
                <a:latin typeface="Calibri"/>
              </a:defRPr>
            </a:pPr>
            <a:r>
              <a:t>   •  Over-privileged capabilities allow reading and writing process memory.</a:t>
            </a:r>
          </a:p>
          <a:p>
            <a:pPr>
              <a:spcAft>
                <a:spcPts val="1000"/>
              </a:spcAft>
              <a:defRPr sz="1400">
                <a:solidFill>
                  <a:srgbClr val="94A3B8"/>
                </a:solidFill>
                <a:latin typeface="Calibri"/>
              </a:defRPr>
            </a:pPr>
            <a:r>
              <a:t>   •  Combined with shared host PID namespace, it allows host code injection.</a:t>
            </a:r>
          </a:p>
          <a:p>
            <a:pPr>
              <a:spcAft>
                <a:spcPts val="1000"/>
              </a:spcAft>
              <a:defRPr sz="1500" b="1">
                <a:solidFill>
                  <a:srgbClr val="06B6D4"/>
                </a:solidFill>
                <a:latin typeface="Calibri"/>
              </a:defRPr>
            </a:pPr>
            <a:r>
              <a:t>🔵  Capability Diagnostics</a:t>
            </a:r>
          </a:p>
          <a:p>
            <a:pPr>
              <a:spcAft>
                <a:spcPts val="1000"/>
              </a:spcAft>
              <a:defRPr sz="1400">
                <a:solidFill>
                  <a:srgbClr val="94A3B8"/>
                </a:solidFill>
                <a:latin typeface="Calibri"/>
              </a:defRPr>
            </a:pPr>
            <a:r>
              <a:t>   •  Evaluates active permissions using the 'capsh --print' utility.</a:t>
            </a:r>
          </a:p>
          <a:p>
            <a:pPr>
              <a:spcAft>
                <a:spcPts val="1000"/>
              </a:spcAft>
              <a:defRPr sz="1400">
                <a:solidFill>
                  <a:srgbClr val="94A3B8"/>
                </a:solidFill>
                <a:latin typeface="Calibri"/>
              </a:defRPr>
            </a:pPr>
            <a:r>
              <a:t>   •  Checks PID visibility to detect shared namespace profiles.</a:t>
            </a:r>
          </a:p>
          <a:p>
            <a:pPr>
              <a:spcAft>
                <a:spcPts val="1000"/>
              </a:spcAft>
              <a:defRPr sz="1500" b="1">
                <a:solidFill>
                  <a:srgbClr val="22C55E"/>
                </a:solidFill>
                <a:latin typeface="Calibri"/>
              </a:defRPr>
            </a:pPr>
            <a:r>
              <a:t>🟢  Namespace Isolation</a:t>
            </a:r>
          </a:p>
          <a:p>
            <a:pPr>
              <a:spcAft>
                <a:spcPts val="1000"/>
              </a:spcAft>
              <a:defRPr sz="1400">
                <a:solidFill>
                  <a:srgbClr val="94A3B8"/>
                </a:solidFill>
                <a:latin typeface="Calibri"/>
              </a:defRPr>
            </a:pPr>
            <a:r>
              <a:t>   •  With standard isolated namespaces, host processes are invisible.</a:t>
            </a:r>
          </a:p>
          <a:p>
            <a:pPr>
              <a:spcAft>
                <a:spcPts val="1000"/>
              </a:spcAft>
              <a:defRPr sz="1400">
                <a:solidFill>
                  <a:srgbClr val="94A3B8"/>
                </a:solidFill>
                <a:latin typeface="Calibri"/>
              </a:defRPr>
            </a:pPr>
            <a:r>
              <a:t>   •  Ensures container tasks are safely isolated.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0" y="1645920"/>
            <a:ext cx="4846320" cy="4389120"/>
          </a:xfrm>
          <a:prstGeom prst="rect">
            <a:avLst/>
          </a:prstGeom>
          <a:solidFill>
            <a:srgbClr val="1E293B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400"/>
              </a:spcAft>
              <a:defRPr sz="1400" b="1">
                <a:solidFill>
                  <a:srgbClr val="FFFFFF"/>
                </a:solidFill>
                <a:latin typeface="Trebuchet MS"/>
              </a:defRPr>
            </a:pPr>
            <a:r>
              <a:t>DETECTION &amp; MITIGATION BLUEPRINT</a:t>
            </a:r>
          </a:p>
          <a:p>
            <a:pPr>
              <a:spcAft>
                <a:spcPts val="800"/>
              </a:spcAft>
              <a:defRPr sz="1100" b="1">
                <a:solidFill>
                  <a:srgbClr val="06B6D4"/>
                </a:solidFill>
                <a:latin typeface="Calibri"/>
              </a:defRPr>
            </a:pPr>
            <a:r>
              <a:t>Hexa Force Remediation</a:t>
            </a:r>
          </a:p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• Detection: Scan configuration files for '--pid=host' namespace flags.</a:t>
            </a:r>
          </a:p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• Detection: Monitor running processes for active CAP_SYS_PTRACE capabilities.</a:t>
            </a:r>
          </a:p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• Mitigation: Drop all default capabilities: --cap-drop=ALL.</a:t>
            </a:r>
          </a:p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• Mitigation: Strictly avoid running containers in host PID namespaces.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Trebuchet MS"/>
              </a:defRPr>
            </a:pPr>
            <a:r>
              <a:t>STAGE 3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Trebuchet MS"/>
              </a:defRPr>
            </a:pPr>
            <a:r>
              <a:t>Stage 3: Daemon &amp; API Security (docker.sock)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548640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FFFFF"/>
                </a:solidFill>
                <a:latin typeface="Calibri"/>
              </a:defRPr>
            </a:pPr>
            <a:r>
              <a:t>•  Exploit Concept (UNIX Socket Mount)</a:t>
            </a:r>
          </a:p>
          <a:p>
            <a:pPr>
              <a:spcAft>
                <a:spcPts val="1000"/>
              </a:spcAft>
              <a:defRPr sz="1400">
                <a:solidFill>
                  <a:srgbClr val="94A3B8"/>
                </a:solidFill>
                <a:latin typeface="Calibri"/>
              </a:defRPr>
            </a:pPr>
            <a:r>
              <a:t>   •  The Docker daemon runs as root on the host system.</a:t>
            </a:r>
          </a:p>
          <a:p>
            <a:pPr>
              <a:spcAft>
                <a:spcPts val="1000"/>
              </a:spcAft>
              <a:defRPr sz="1400">
                <a:solidFill>
                  <a:srgbClr val="94A3B8"/>
                </a:solidFill>
                <a:latin typeface="Calibri"/>
              </a:defRPr>
            </a:pPr>
            <a:r>
              <a:t>   •  Exposing docker.sock gives the container full daemon administrative access.</a:t>
            </a:r>
          </a:p>
          <a:p>
            <a:pPr>
              <a:spcAft>
                <a:spcPts val="1000"/>
              </a:spcAft>
              <a:defRPr sz="1500" b="1">
                <a:solidFill>
                  <a:srgbClr val="EF4444"/>
                </a:solidFill>
                <a:latin typeface="Calibri"/>
              </a:defRPr>
            </a:pPr>
            <a:r>
              <a:t>🔴  Sibling Hijack Simulation</a:t>
            </a:r>
          </a:p>
          <a:p>
            <a:pPr>
              <a:spcAft>
                <a:spcPts val="1000"/>
              </a:spcAft>
              <a:defRPr sz="1400">
                <a:solidFill>
                  <a:srgbClr val="94A3B8"/>
                </a:solidFill>
                <a:latin typeface="Calibri"/>
              </a:defRPr>
            </a:pPr>
            <a:r>
              <a:t>   •  Detects exposed sockets and constructs REST API payloads.</a:t>
            </a:r>
          </a:p>
          <a:p>
            <a:pPr>
              <a:spcAft>
                <a:spcPts val="1000"/>
              </a:spcAft>
              <a:defRPr sz="1400">
                <a:solidFill>
                  <a:srgbClr val="94A3B8"/>
                </a:solidFill>
                <a:latin typeface="Calibri"/>
              </a:defRPr>
            </a:pPr>
            <a:r>
              <a:t>   •  Spawns sibling containers with host root mounted on guest filesystems.</a:t>
            </a:r>
          </a:p>
          <a:p>
            <a:pPr>
              <a:spcAft>
                <a:spcPts val="1000"/>
              </a:spcAft>
              <a:defRPr sz="1500" b="1">
                <a:solidFill>
                  <a:srgbClr val="22C55E"/>
                </a:solidFill>
                <a:latin typeface="Calibri"/>
              </a:defRPr>
            </a:pPr>
            <a:r>
              <a:t>🟢  Socket Protection</a:t>
            </a:r>
          </a:p>
          <a:p>
            <a:pPr>
              <a:spcAft>
                <a:spcPts val="1000"/>
              </a:spcAft>
              <a:defRPr sz="1400">
                <a:solidFill>
                  <a:srgbClr val="94A3B8"/>
                </a:solidFill>
                <a:latin typeface="Calibri"/>
              </a:defRPr>
            </a:pPr>
            <a:r>
              <a:t>   •  Verifies that without socket file exposure, API queries are blocked.</a:t>
            </a:r>
          </a:p>
          <a:p>
            <a:pPr>
              <a:spcAft>
                <a:spcPts val="1000"/>
              </a:spcAft>
              <a:defRPr sz="1400">
                <a:solidFill>
                  <a:srgbClr val="94A3B8"/>
                </a:solidFill>
                <a:latin typeface="Calibri"/>
              </a:defRPr>
            </a:pPr>
            <a:r>
              <a:t>   •  Guest container remains securely separated.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0" y="1645920"/>
            <a:ext cx="4846320" cy="4389120"/>
          </a:xfrm>
          <a:prstGeom prst="rect">
            <a:avLst/>
          </a:prstGeom>
          <a:solidFill>
            <a:srgbClr val="1E293B"/>
          </a:solidFill>
          <a:ln w="19050">
            <a:solidFill>
              <a:srgbClr val="EAB30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400"/>
              </a:spcAft>
              <a:defRPr sz="1400" b="1">
                <a:solidFill>
                  <a:srgbClr val="FFFFFF"/>
                </a:solidFill>
                <a:latin typeface="Trebuchet MS"/>
              </a:defRPr>
            </a:pPr>
            <a:r>
              <a:t>DETECTION &amp; MITIGATION BLUEPRINT</a:t>
            </a:r>
          </a:p>
          <a:p>
            <a:pPr>
              <a:spcAft>
                <a:spcPts val="800"/>
              </a:spcAft>
              <a:defRPr sz="1100" b="1">
                <a:solidFill>
                  <a:srgbClr val="EAB308"/>
                </a:solidFill>
                <a:latin typeface="Calibri"/>
              </a:defRPr>
            </a:pPr>
            <a:r>
              <a:t>Hexa Force Remediation</a:t>
            </a:r>
          </a:p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• Detection: Scan container mount definitions for docker.sock references.</a:t>
            </a:r>
          </a:p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• Detection: Implement runtime filters (e.g. Falco) to log raw curl queries to sockets.</a:t>
            </a:r>
          </a:p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• Mitigation: Prohibit socket mounts in unprivileged workloads.</a:t>
            </a:r>
          </a:p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• Mitigation: Run Docker in Rootless Mode so the daemon has no host root power.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Trebuchet MS"/>
              </a:defRPr>
            </a:pPr>
            <a:r>
              <a:t>STAGE 4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Trebuchet MS"/>
              </a:defRPr>
            </a:pPr>
            <a:r>
              <a:t>Stage 4: Volume &amp; Filesystem Security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548640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FFFFF"/>
                </a:solidFill>
                <a:latin typeface="Calibri"/>
              </a:defRPr>
            </a:pPr>
            <a:r>
              <a:t>•  Exploit Concept (Writable Mounts)</a:t>
            </a:r>
          </a:p>
          <a:p>
            <a:pPr>
              <a:spcAft>
                <a:spcPts val="1000"/>
              </a:spcAft>
              <a:defRPr sz="1400">
                <a:solidFill>
                  <a:srgbClr val="94A3B8"/>
                </a:solidFill>
                <a:latin typeface="Calibri"/>
              </a:defRPr>
            </a:pPr>
            <a:r>
              <a:t>   •  Writable host directory mounts allow guess writes to local system files.</a:t>
            </a:r>
          </a:p>
          <a:p>
            <a:pPr>
              <a:spcAft>
                <a:spcPts val="1000"/>
              </a:spcAft>
              <a:defRPr sz="1400">
                <a:solidFill>
                  <a:srgbClr val="94A3B8"/>
                </a:solidFill>
                <a:latin typeface="Calibri"/>
              </a:defRPr>
            </a:pPr>
            <a:r>
              <a:t>   •  Compromised container writes scheduled tasks to host cron folders.</a:t>
            </a:r>
          </a:p>
          <a:p>
            <a:pPr>
              <a:spcAft>
                <a:spcPts val="1000"/>
              </a:spcAft>
              <a:defRPr sz="1500" b="1">
                <a:solidFill>
                  <a:srgbClr val="EF4444"/>
                </a:solidFill>
                <a:latin typeface="Calibri"/>
              </a:defRPr>
            </a:pPr>
            <a:r>
              <a:t>🔴  Cron Injection Attack</a:t>
            </a:r>
          </a:p>
          <a:p>
            <a:pPr>
              <a:spcAft>
                <a:spcPts val="1000"/>
              </a:spcAft>
              <a:defRPr sz="1400">
                <a:solidFill>
                  <a:srgbClr val="94A3B8"/>
                </a:solidFill>
                <a:latin typeface="Calibri"/>
              </a:defRPr>
            </a:pPr>
            <a:r>
              <a:t>   •  Simulates attempts to write reverse shell scripts to /mnt/host/etc/cron.d.</a:t>
            </a:r>
          </a:p>
          <a:p>
            <a:pPr>
              <a:spcAft>
                <a:spcPts val="1000"/>
              </a:spcAft>
              <a:defRPr sz="1400">
                <a:solidFill>
                  <a:srgbClr val="94A3B8"/>
                </a:solidFill>
                <a:latin typeface="Calibri"/>
              </a:defRPr>
            </a:pPr>
            <a:r>
              <a:t>   •  On success, the host runs the arbitrary script as root in 60s.</a:t>
            </a:r>
          </a:p>
          <a:p>
            <a:pPr>
              <a:spcAft>
                <a:spcPts val="1000"/>
              </a:spcAft>
              <a:defRPr sz="1500" b="1">
                <a:solidFill>
                  <a:srgbClr val="22C55E"/>
                </a:solidFill>
                <a:latin typeface="Calibri"/>
              </a:defRPr>
            </a:pPr>
            <a:r>
              <a:t>🟢  Read-Only Constraints</a:t>
            </a:r>
          </a:p>
          <a:p>
            <a:pPr>
              <a:spcAft>
                <a:spcPts val="1000"/>
              </a:spcAft>
              <a:defRPr sz="1400">
                <a:solidFill>
                  <a:srgbClr val="94A3B8"/>
                </a:solidFill>
                <a:latin typeface="Calibri"/>
              </a:defRPr>
            </a:pPr>
            <a:r>
              <a:t>   •  Mount is configured as read-only, returning 'Permission Denied' blocks.</a:t>
            </a:r>
          </a:p>
          <a:p>
            <a:pPr>
              <a:spcAft>
                <a:spcPts val="1000"/>
              </a:spcAft>
              <a:defRPr sz="1400">
                <a:solidFill>
                  <a:srgbClr val="94A3B8"/>
                </a:solidFill>
                <a:latin typeface="Calibri"/>
              </a:defRPr>
            </a:pPr>
            <a:r>
              <a:t>   •  Verifies that read-only volumes perfectly contain directory traversals.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0" y="1645920"/>
            <a:ext cx="4846320" cy="4389120"/>
          </a:xfrm>
          <a:prstGeom prst="rect">
            <a:avLst/>
          </a:prstGeom>
          <a:solidFill>
            <a:srgbClr val="1E293B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400"/>
              </a:spcAft>
              <a:defRPr sz="1400" b="1">
                <a:solidFill>
                  <a:srgbClr val="FFFFFF"/>
                </a:solidFill>
                <a:latin typeface="Trebuchet MS"/>
              </a:defRPr>
            </a:pPr>
            <a:r>
              <a:t>DETECTION &amp; MITIGATION BLUEPRINT</a:t>
            </a:r>
          </a:p>
          <a:p>
            <a:pPr>
              <a:spcAft>
                <a:spcPts val="800"/>
              </a:spcAft>
              <a:defRPr sz="1100" b="1">
                <a:solidFill>
                  <a:srgbClr val="22C55E"/>
                </a:solidFill>
                <a:latin typeface="Calibri"/>
              </a:defRPr>
            </a:pPr>
            <a:r>
              <a:t>Hexa Force Remediation</a:t>
            </a:r>
          </a:p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• Detection: Configure File Integrity Monitoring (FIM) on host /etc/cron* directories.</a:t>
            </a:r>
          </a:p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• Detection: Set up auditd rules to log write activity on host cron folders.</a:t>
            </a:r>
          </a:p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• Mitigation: Always mount host directories strictly as read-only (:ro).</a:t>
            </a:r>
          </a:p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• Mitigation: Avoid mounting root directories (/etc, /var/run, /root) into containers.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Trebuchet MS"/>
              </a:defRPr>
            </a:pPr>
            <a:r>
              <a:t>SUPPLY CHAIN INTEGRITY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Trebuchet MS"/>
              </a:defRPr>
            </a:pPr>
            <a:r>
              <a:t>Cryptographic Image Signing (Cosign &amp; OIDC)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548640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FFFFF"/>
                </a:solidFill>
                <a:latin typeface="Calibri"/>
              </a:defRPr>
            </a:pPr>
            <a:r>
              <a:t>•  Secure Supply Chain</a:t>
            </a:r>
          </a:p>
          <a:p>
            <a:pPr>
              <a:spcAft>
                <a:spcPts val="1000"/>
              </a:spcAft>
              <a:defRPr sz="1400">
                <a:solidFill>
                  <a:srgbClr val="94A3B8"/>
                </a:solidFill>
                <a:latin typeface="Calibri"/>
              </a:defRPr>
            </a:pPr>
            <a:r>
              <a:t>   •  Signatures protect against registry compromises, spoofing, and tagging attacks.</a:t>
            </a:r>
          </a:p>
          <a:p>
            <a:pPr>
              <a:spcAft>
                <a:spcPts val="1000"/>
              </a:spcAft>
              <a:defRPr sz="1400">
                <a:solidFill>
                  <a:srgbClr val="94A3B8"/>
                </a:solidFill>
                <a:latin typeface="Calibri"/>
              </a:defRPr>
            </a:pPr>
            <a:r>
              <a:t>   •  Verifies that only authorized, scanned images are executed in clusters.</a:t>
            </a:r>
          </a:p>
          <a:p>
            <a:pPr>
              <a:spcAft>
                <a:spcPts val="1000"/>
              </a:spcAft>
              <a:defRPr sz="1500" b="1">
                <a:solidFill>
                  <a:srgbClr val="06B6D4"/>
                </a:solidFill>
                <a:latin typeface="Calibri"/>
              </a:defRPr>
            </a:pPr>
            <a:r>
              <a:t>⚡  Keyless OIDC Authentication</a:t>
            </a:r>
          </a:p>
          <a:p>
            <a:pPr>
              <a:spcAft>
                <a:spcPts val="1000"/>
              </a:spcAft>
              <a:defRPr sz="1400">
                <a:solidFill>
                  <a:srgbClr val="94A3B8"/>
                </a:solidFill>
                <a:latin typeface="Calibri"/>
              </a:defRPr>
            </a:pPr>
            <a:r>
              <a:t>   •  Connects GitHub's OpenID Connect (OIDC) identity with Sigstore's CA (Fulcio).</a:t>
            </a:r>
          </a:p>
          <a:p>
            <a:pPr>
              <a:spcAft>
                <a:spcPts val="1000"/>
              </a:spcAft>
              <a:defRPr sz="1400">
                <a:solidFill>
                  <a:srgbClr val="94A3B8"/>
                </a:solidFill>
                <a:latin typeface="Calibri"/>
              </a:defRPr>
            </a:pPr>
            <a:r>
              <a:t>   •  Eliminates private key storage, rotation, and leakage risks entirely.</a:t>
            </a:r>
          </a:p>
          <a:p>
            <a:pPr>
              <a:spcAft>
                <a:spcPts val="1000"/>
              </a:spcAft>
              <a:defRPr sz="1500" b="1">
                <a:solidFill>
                  <a:srgbClr val="FFFFFF"/>
                </a:solidFill>
                <a:latin typeface="Calibri"/>
              </a:defRPr>
            </a:pPr>
            <a:r>
              <a:t>•  Short-Lived Certificates</a:t>
            </a:r>
          </a:p>
          <a:p>
            <a:pPr>
              <a:spcAft>
                <a:spcPts val="1000"/>
              </a:spcAft>
              <a:defRPr sz="1400">
                <a:solidFill>
                  <a:srgbClr val="94A3B8"/>
                </a:solidFill>
                <a:latin typeface="Calibri"/>
              </a:defRPr>
            </a:pPr>
            <a:r>
              <a:t>   •  Fulcio issues temporary 10-minute signing certificates based on runner JWTs.</a:t>
            </a:r>
          </a:p>
          <a:p>
            <a:pPr>
              <a:spcAft>
                <a:spcPts val="1000"/>
              </a:spcAft>
              <a:defRPr sz="1400">
                <a:solidFill>
                  <a:srgbClr val="94A3B8"/>
                </a:solidFill>
                <a:latin typeface="Calibri"/>
              </a:defRPr>
            </a:pPr>
            <a:r>
              <a:t>   •  The signature is pushed to the registry and verified keylessly using public APIs.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0" y="1645920"/>
            <a:ext cx="4846320" cy="4389120"/>
          </a:xfrm>
          <a:prstGeom prst="rect">
            <a:avLst/>
          </a:prstGeom>
          <a:solidFill>
            <a:srgbClr val="1E293B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400"/>
              </a:spcAft>
              <a:defRPr sz="1400" b="1">
                <a:solidFill>
                  <a:srgbClr val="FFFFFF"/>
                </a:solidFill>
                <a:latin typeface="Trebuchet MS"/>
              </a:defRPr>
            </a:pPr>
            <a:r>
              <a:t>OIDC CRYPTOGRAPHIC TRUST CHAIN</a:t>
            </a:r>
          </a:p>
          <a:p>
            <a:pPr>
              <a:spcAft>
                <a:spcPts val="800"/>
              </a:spcAft>
              <a:defRPr sz="1100" b="1">
                <a:solidFill>
                  <a:srgbClr val="06B6D4"/>
                </a:solidFill>
                <a:latin typeface="Calibri"/>
              </a:defRPr>
            </a:pPr>
            <a:r>
              <a:t>Hexa Force Keyless signing</a:t>
            </a:r>
          </a:p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• 1. Runner requests JWT from GitHub Actions identity provider.</a:t>
            </a:r>
          </a:p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• 2. Presents JWT token to Sigstore's certificate authority.</a:t>
            </a:r>
          </a:p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• 3. Sigstore verifies GHA identity and generates short-lived cert.</a:t>
            </a:r>
          </a:p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• 4. Image is cryptographically signed and signature pushed to GHCR.</a:t>
            </a:r>
          </a:p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• 5. Runtimes verify authenticity keylessly using GitHub public APIs.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Trebuchet MS"/>
              </a:defRPr>
            </a:pPr>
            <a:r>
              <a:t>PIPELINE ORCHESTRATION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Trebuchet MS"/>
              </a:defRPr>
            </a:pPr>
            <a:r>
              <a:t>Automated CI/CD Laboratory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548640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FFFFF"/>
                </a:solidFill>
                <a:latin typeface="Calibri"/>
              </a:defRPr>
            </a:pPr>
            <a:r>
              <a:t>•  DevSecOps Orchestration</a:t>
            </a:r>
          </a:p>
          <a:p>
            <a:pPr>
              <a:spcAft>
                <a:spcPts val="1000"/>
              </a:spcAft>
              <a:defRPr sz="1400">
                <a:solidFill>
                  <a:srgbClr val="94A3B8"/>
                </a:solidFill>
                <a:latin typeface="Calibri"/>
              </a:defRPr>
            </a:pPr>
            <a:r>
              <a:t>   •  Fully integrated using GitHub Actions workflow automations.</a:t>
            </a:r>
          </a:p>
          <a:p>
            <a:pPr>
              <a:spcAft>
                <a:spcPts val="1000"/>
              </a:spcAft>
              <a:defRPr sz="1400">
                <a:solidFill>
                  <a:srgbClr val="94A3B8"/>
                </a:solidFill>
                <a:latin typeface="Calibri"/>
              </a:defRPr>
            </a:pPr>
            <a:r>
              <a:t>   •  Builds, tags, logs in, signs, and executes lab stages on commit.</a:t>
            </a:r>
          </a:p>
          <a:p>
            <a:pPr>
              <a:spcAft>
                <a:spcPts val="1000"/>
              </a:spcAft>
              <a:defRPr sz="1500" b="1">
                <a:solidFill>
                  <a:srgbClr val="06B6D4"/>
                </a:solidFill>
                <a:latin typeface="Calibri"/>
              </a:defRPr>
            </a:pPr>
            <a:r>
              <a:t>⚡  Lowercase Tag Compliance</a:t>
            </a:r>
          </a:p>
          <a:p>
            <a:pPr>
              <a:spcAft>
                <a:spcPts val="1000"/>
              </a:spcAft>
              <a:defRPr sz="1400">
                <a:solidFill>
                  <a:srgbClr val="94A3B8"/>
                </a:solidFill>
                <a:latin typeface="Calibri"/>
              </a:defRPr>
            </a:pPr>
            <a:r>
              <a:t>   •  Enforces strict lowercase registry tags using shell string conversions.</a:t>
            </a:r>
          </a:p>
          <a:p>
            <a:pPr>
              <a:spcAft>
                <a:spcPts val="1000"/>
              </a:spcAft>
              <a:defRPr sz="1400">
                <a:solidFill>
                  <a:srgbClr val="94A3B8"/>
                </a:solidFill>
                <a:latin typeface="Calibri"/>
              </a:defRPr>
            </a:pPr>
            <a:r>
              <a:t>   •  Resolves Docker build case-sensitivity requirements automatically.</a:t>
            </a:r>
          </a:p>
          <a:p>
            <a:pPr>
              <a:spcAft>
                <a:spcPts val="1000"/>
              </a:spcAft>
              <a:defRPr sz="1500" b="1">
                <a:solidFill>
                  <a:srgbClr val="FFFFFF"/>
                </a:solidFill>
                <a:latin typeface="Calibri"/>
              </a:defRPr>
            </a:pPr>
            <a:r>
              <a:t>•  Fast Execution Loop</a:t>
            </a:r>
          </a:p>
          <a:p>
            <a:pPr>
              <a:spcAft>
                <a:spcPts val="1000"/>
              </a:spcAft>
              <a:defRPr sz="1400">
                <a:solidFill>
                  <a:srgbClr val="94A3B8"/>
                </a:solidFill>
                <a:latin typeface="Calibri"/>
              </a:defRPr>
            </a:pPr>
            <a:r>
              <a:t>   •  Optimizations reduce execution duration to under 50 seconds.</a:t>
            </a:r>
          </a:p>
          <a:p>
            <a:pPr>
              <a:spcAft>
                <a:spcPts val="1000"/>
              </a:spcAft>
              <a:defRPr sz="1400">
                <a:solidFill>
                  <a:srgbClr val="94A3B8"/>
                </a:solidFill>
                <a:latin typeface="Calibri"/>
              </a:defRPr>
            </a:pPr>
            <a:r>
              <a:t>   •  Provides instant DevSecOps regression security assessment feedback.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0" y="1645920"/>
            <a:ext cx="4846320" cy="4389120"/>
          </a:xfrm>
          <a:prstGeom prst="rect">
            <a:avLst/>
          </a:prstGeom>
          <a:solidFill>
            <a:srgbClr val="1E293B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>
              <a:spcAft>
                <a:spcPts val="200"/>
              </a:spcAft>
              <a:defRPr sz="950">
                <a:solidFill>
                  <a:srgbClr val="FFFFFF"/>
                </a:solidFill>
                <a:latin typeface="Consolas"/>
              </a:defRPr>
            </a:pPr>
            <a:r>
              <a:t># Set lowercase repository name for Docker/GHCR</a:t>
            </a:r>
          </a:p>
          <a:p>
            <a:pPr algn="l">
              <a:spcAft>
                <a:spcPts val="200"/>
              </a:spcAft>
              <a:defRPr sz="950">
                <a:solidFill>
                  <a:srgbClr val="FFFFFF"/>
                </a:solidFill>
                <a:latin typeface="Consolas"/>
              </a:defRPr>
            </a:pPr>
            <a:r>
              <a:t>- name: Set lowercase repository name</a:t>
            </a:r>
          </a:p>
          <a:p>
            <a:pPr algn="l">
              <a:spcAft>
                <a:spcPts val="200"/>
              </a:spcAft>
              <a:defRPr sz="950">
                <a:solidFill>
                  <a:srgbClr val="FFFFFF"/>
                </a:solidFill>
                <a:latin typeface="Consolas"/>
              </a:defRPr>
            </a:pPr>
            <a:r>
              <a:t>  run: |</a:t>
            </a:r>
          </a:p>
          <a:p>
            <a:pPr algn="l">
              <a:spcAft>
                <a:spcPts val="200"/>
              </a:spcAft>
              <a:defRPr sz="950">
                <a:solidFill>
                  <a:srgbClr val="22C55E"/>
                </a:solidFill>
                <a:latin typeface="Consolas"/>
              </a:defRPr>
            </a:pPr>
            <a:r>
              <a:t>    echo "IMAGE_TAG=ghcr.io/${GITHUB_REPOSITORY,,}" &gt;&gt; ${GITHUB_ENV}</a:t>
            </a:r>
          </a:p>
          <a:p>
            <a:pPr algn="l">
              <a:spcAft>
                <a:spcPts val="200"/>
              </a:spcAft>
              <a:defRPr sz="950">
                <a:solidFill>
                  <a:srgbClr val="FFFFFF"/>
                </a:solidFill>
                <a:latin typeface="Consolas"/>
              </a:defRPr>
            </a:pPr>
          </a:p>
          <a:p>
            <a:pPr algn="l">
              <a:spcAft>
                <a:spcPts val="200"/>
              </a:spcAft>
              <a:defRPr sz="950">
                <a:solidFill>
                  <a:srgbClr val="FFFFFF"/>
                </a:solidFill>
                <a:latin typeface="Consolas"/>
              </a:defRPr>
            </a:pPr>
            <a:r>
              <a:t># Install Cosign (Sigstore)</a:t>
            </a:r>
          </a:p>
          <a:p>
            <a:pPr algn="l">
              <a:spcAft>
                <a:spcPts val="200"/>
              </a:spcAft>
              <a:defRPr sz="950">
                <a:solidFill>
                  <a:srgbClr val="FFFFFF"/>
                </a:solidFill>
                <a:latin typeface="Consolas"/>
              </a:defRPr>
            </a:pPr>
            <a:r>
              <a:t>- name: Install Cosign</a:t>
            </a:r>
          </a:p>
          <a:p>
            <a:pPr algn="l">
              <a:spcAft>
                <a:spcPts val="200"/>
              </a:spcAft>
              <a:defRPr sz="950">
                <a:solidFill>
                  <a:srgbClr val="22C55E"/>
                </a:solidFill>
                <a:latin typeface="Consolas"/>
              </a:defRPr>
            </a:pPr>
            <a:r>
              <a:t>  uses: sigstore/cosign-installer@v3.5.0</a:t>
            </a:r>
          </a:p>
          <a:p>
            <a:pPr algn="l">
              <a:spcAft>
                <a:spcPts val="200"/>
              </a:spcAft>
              <a:defRPr sz="950">
                <a:solidFill>
                  <a:srgbClr val="FFFFFF"/>
                </a:solidFill>
                <a:latin typeface="Consolas"/>
              </a:defRPr>
            </a:pPr>
          </a:p>
          <a:p>
            <a:pPr algn="l">
              <a:spcAft>
                <a:spcPts val="200"/>
              </a:spcAft>
              <a:defRPr sz="950">
                <a:solidFill>
                  <a:srgbClr val="FFFFFF"/>
                </a:solidFill>
                <a:latin typeface="Consolas"/>
              </a:defRPr>
            </a:pPr>
            <a:r>
              <a:t># Build &amp; Push Container</a:t>
            </a:r>
          </a:p>
          <a:p>
            <a:pPr algn="l">
              <a:spcAft>
                <a:spcPts val="200"/>
              </a:spcAft>
              <a:defRPr sz="950">
                <a:solidFill>
                  <a:srgbClr val="FFFFFF"/>
                </a:solidFill>
                <a:latin typeface="Consolas"/>
              </a:defRPr>
            </a:pPr>
            <a:r>
              <a:t>- name: Build and Push Docker Image</a:t>
            </a:r>
          </a:p>
          <a:p>
            <a:pPr algn="l">
              <a:spcAft>
                <a:spcPts val="200"/>
              </a:spcAft>
              <a:defRPr sz="950">
                <a:solidFill>
                  <a:srgbClr val="FFFFFF"/>
                </a:solidFill>
                <a:latin typeface="Consolas"/>
              </a:defRPr>
            </a:pPr>
            <a:r>
              <a:t>  uses: docker/build-push-action@v5</a:t>
            </a:r>
          </a:p>
          <a:p>
            <a:pPr algn="l">
              <a:spcAft>
                <a:spcPts val="200"/>
              </a:spcAft>
              <a:defRPr sz="950">
                <a:solidFill>
                  <a:srgbClr val="FFFFFF"/>
                </a:solidFill>
                <a:latin typeface="Consolas"/>
              </a:defRPr>
            </a:pPr>
            <a:r>
              <a:t>  with:</a:t>
            </a:r>
          </a:p>
          <a:p>
            <a:pPr algn="l">
              <a:spcAft>
                <a:spcPts val="200"/>
              </a:spcAft>
              <a:defRPr sz="950">
                <a:solidFill>
                  <a:srgbClr val="FFFFFF"/>
                </a:solidFill>
                <a:latin typeface="Consolas"/>
              </a:defRPr>
            </a:pPr>
            <a:r>
              <a:t>    push: true</a:t>
            </a:r>
          </a:p>
          <a:p>
            <a:pPr algn="l">
              <a:spcAft>
                <a:spcPts val="200"/>
              </a:spcAft>
              <a:defRPr sz="950">
                <a:solidFill>
                  <a:srgbClr val="22C55E"/>
                </a:solidFill>
                <a:latin typeface="Consolas"/>
              </a:defRPr>
            </a:pPr>
            <a:r>
              <a:t>    tags: ${{ env.IMAGE_TAG }}:latest</a:t>
            </a:r>
          </a:p>
          <a:p>
            <a:pPr algn="l">
              <a:spcAft>
                <a:spcPts val="200"/>
              </a:spcAft>
              <a:defRPr sz="950">
                <a:solidFill>
                  <a:srgbClr val="FFFFFF"/>
                </a:solidFill>
                <a:latin typeface="Consolas"/>
              </a:defRPr>
            </a:pPr>
          </a:p>
          <a:p>
            <a:pPr algn="l">
              <a:spcAft>
                <a:spcPts val="200"/>
              </a:spcAft>
              <a:defRPr sz="950">
                <a:solidFill>
                  <a:srgbClr val="FFFFFF"/>
                </a:solidFill>
                <a:latin typeface="Consolas"/>
              </a:defRPr>
            </a:pPr>
            <a:r>
              <a:t># Keyless Sign the Published Image</a:t>
            </a:r>
          </a:p>
          <a:p>
            <a:pPr algn="l">
              <a:spcAft>
                <a:spcPts val="200"/>
              </a:spcAft>
              <a:defRPr sz="950">
                <a:solidFill>
                  <a:srgbClr val="FFFFFF"/>
                </a:solidFill>
                <a:latin typeface="Consolas"/>
              </a:defRPr>
            </a:pPr>
            <a:r>
              <a:t>- name: Sign the Published Image</a:t>
            </a:r>
          </a:p>
          <a:p>
            <a:pPr algn="l">
              <a:spcAft>
                <a:spcPts val="200"/>
              </a:spcAft>
              <a:defRPr sz="950">
                <a:solidFill>
                  <a:srgbClr val="06B6D4"/>
                </a:solidFill>
                <a:latin typeface="Consolas"/>
              </a:defRPr>
            </a:pPr>
            <a:r>
              <a:t>  run: cosign sign --yes "${{ env.IMAGE_TAG }}:${{ github.sha }}"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Trebuchet MS"/>
              </a:defRPr>
            </a:pPr>
            <a:r>
              <a:t>BEST PRACTICES GUIDE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Trebuchet MS"/>
              </a:defRPr>
            </a:pPr>
            <a:r>
              <a:t>DevSecOps Hardening &amp; Defense-in-Depth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3291840" cy="4389120"/>
          </a:xfrm>
          <a:prstGeom prst="rect">
            <a:avLst/>
          </a:prstGeom>
          <a:solidFill>
            <a:srgbClr val="1E293B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400"/>
              </a:spcAft>
              <a:defRPr sz="1400" b="1">
                <a:solidFill>
                  <a:srgbClr val="FFFFFF"/>
                </a:solidFill>
                <a:latin typeface="Trebuchet MS"/>
              </a:defRPr>
            </a:pPr>
            <a:r>
              <a:t>1. HOST CONTROLS</a:t>
            </a:r>
          </a:p>
          <a:p>
            <a:pPr>
              <a:spcAft>
                <a:spcPts val="800"/>
              </a:spcAft>
              <a:defRPr sz="1100" b="1">
                <a:solidFill>
                  <a:srgbClr val="EF4444"/>
                </a:solidFill>
                <a:latin typeface="Calibri"/>
              </a:defRPr>
            </a:pPr>
            <a:r>
              <a:t>Kernel Security Level</a:t>
            </a:r>
          </a:p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• Apply host kernel updates immediately to resolve CVE-2016-5195.</a:t>
            </a:r>
          </a:p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• Implement seccomp security rules to block madvise MADV_DONTNEED if not required.</a:t>
            </a:r>
          </a:p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• Employ sandbox container engines (gVisor) in untrusted public environments.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0" y="1645920"/>
            <a:ext cx="3291840" cy="4389120"/>
          </a:xfrm>
          <a:prstGeom prst="rect">
            <a:avLst/>
          </a:prstGeom>
          <a:solidFill>
            <a:srgbClr val="1E293B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400"/>
              </a:spcAft>
              <a:defRPr sz="1400" b="1">
                <a:solidFill>
                  <a:srgbClr val="FFFFFF"/>
                </a:solidFill>
                <a:latin typeface="Trebuchet MS"/>
              </a:defRPr>
            </a:pPr>
            <a:r>
              <a:t>2. CONTAINER CONFIGURATION</a:t>
            </a:r>
          </a:p>
          <a:p>
            <a:pPr>
              <a:spcAft>
                <a:spcPts val="800"/>
              </a:spcAft>
              <a:defRPr sz="1100" b="1">
                <a:solidFill>
                  <a:srgbClr val="06B6D4"/>
                </a:solidFill>
                <a:latin typeface="Calibri"/>
              </a:defRPr>
            </a:pPr>
            <a:r>
              <a:t>Least Privilege Isolation</a:t>
            </a:r>
          </a:p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• Never employ --pid=host namespaces.</a:t>
            </a:r>
          </a:p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• Drop all default privileges: docker run --cap-drop=ALL.</a:t>
            </a:r>
          </a:p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• Run services as custom USER victim (unprivileged accounts).</a:t>
            </a:r>
          </a:p>
        </p:txBody>
      </p:sp>
      <p:sp>
        <p:nvSpPr>
          <p:cNvPr id="6" name="Rectangle 5"/>
          <p:cNvSpPr/>
          <p:nvPr/>
        </p:nvSpPr>
        <p:spPr>
          <a:xfrm>
            <a:off x="8046720" y="1645920"/>
            <a:ext cx="3291840" cy="4389120"/>
          </a:xfrm>
          <a:prstGeom prst="rect">
            <a:avLst/>
          </a:prstGeom>
          <a:solidFill>
            <a:srgbClr val="1E293B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400"/>
              </a:spcAft>
              <a:defRPr sz="1400" b="1">
                <a:solidFill>
                  <a:srgbClr val="FFFFFF"/>
                </a:solidFill>
                <a:latin typeface="Trebuchet MS"/>
              </a:defRPr>
            </a:pPr>
            <a:r>
              <a:t>3. STORAGE &amp; STORAGE APIS</a:t>
            </a:r>
          </a:p>
          <a:p>
            <a:pPr>
              <a:spcAft>
                <a:spcPts val="800"/>
              </a:spcAft>
              <a:defRPr sz="1100" b="1">
                <a:solidFill>
                  <a:srgbClr val="22C55E"/>
                </a:solidFill>
                <a:latin typeface="Calibri"/>
              </a:defRPr>
            </a:pPr>
            <a:r>
              <a:t>Access Controls</a:t>
            </a:r>
          </a:p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• Enforce read-only volumes strictly using the :ro flag.</a:t>
            </a:r>
          </a:p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• Prohibit mounting /var/run/docker.sock UNIX sockets.</a:t>
            </a:r>
          </a:p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• Avoid mounting critical host configurations (/etc, /opt, /root).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Trebuchet MS"/>
              </a:defRPr>
            </a:pPr>
            <a:r>
              <a:t>KEY 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Trebuchet MS"/>
              </a:defRPr>
            </a:pPr>
            <a:r>
              <a:t>Conclusion: Hexa Force Lab Debriefing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548640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FFFFF"/>
                </a:solidFill>
                <a:latin typeface="Calibri"/>
              </a:defRPr>
            </a:pPr>
            <a:r>
              <a:t>•  Containers Share Host OS Foundations</a:t>
            </a:r>
          </a:p>
          <a:p>
            <a:pPr>
              <a:spcAft>
                <a:spcPts val="1000"/>
              </a:spcAft>
              <a:defRPr sz="1400">
                <a:solidFill>
                  <a:srgbClr val="94A3B8"/>
                </a:solidFill>
                <a:latin typeface="Calibri"/>
              </a:defRPr>
            </a:pPr>
            <a:r>
              <a:t>   •  Container containment is only as strong as the host kernel.</a:t>
            </a:r>
          </a:p>
          <a:p>
            <a:pPr>
              <a:spcAft>
                <a:spcPts val="1000"/>
              </a:spcAft>
              <a:defRPr sz="1400">
                <a:solidFill>
                  <a:srgbClr val="94A3B8"/>
                </a:solidFill>
                <a:latin typeface="Calibri"/>
              </a:defRPr>
            </a:pPr>
            <a:r>
              <a:t>   •  Bypassing kernel barriers compromises all namespaces.</a:t>
            </a:r>
          </a:p>
          <a:p>
            <a:pPr>
              <a:spcAft>
                <a:spcPts val="1000"/>
              </a:spcAft>
              <a:defRPr sz="1500" b="1">
                <a:solidFill>
                  <a:srgbClr val="FFFFFF"/>
                </a:solidFill>
                <a:latin typeface="Calibri"/>
              </a:defRPr>
            </a:pPr>
            <a:r>
              <a:t>•  Mitigations are Multi-layered</a:t>
            </a:r>
          </a:p>
          <a:p>
            <a:pPr>
              <a:spcAft>
                <a:spcPts val="1000"/>
              </a:spcAft>
              <a:defRPr sz="1400">
                <a:solidFill>
                  <a:srgbClr val="94A3B8"/>
                </a:solidFill>
                <a:latin typeface="Calibri"/>
              </a:defRPr>
            </a:pPr>
            <a:r>
              <a:t>   •  Securing pipelines requires host updates, capabilities control,</a:t>
            </a:r>
          </a:p>
          <a:p>
            <a:pPr>
              <a:spcAft>
                <a:spcPts val="1000"/>
              </a:spcAft>
              <a:defRPr sz="1400">
                <a:solidFill>
                  <a:srgbClr val="94A3B8"/>
                </a:solidFill>
                <a:latin typeface="Calibri"/>
              </a:defRPr>
            </a:pPr>
            <a:r>
              <a:t>   •  socket restrictions, and read-only storage settings.</a:t>
            </a:r>
          </a:p>
          <a:p>
            <a:pPr>
              <a:spcAft>
                <a:spcPts val="1000"/>
              </a:spcAft>
              <a:defRPr sz="1500" b="1">
                <a:solidFill>
                  <a:srgbClr val="22C55E"/>
                </a:solidFill>
                <a:latin typeface="Calibri"/>
              </a:defRPr>
            </a:pPr>
            <a:r>
              <a:t>🟢  Successful Hexa Force Outcome</a:t>
            </a:r>
          </a:p>
          <a:p>
            <a:pPr>
              <a:spcAft>
                <a:spcPts val="1000"/>
              </a:spcAft>
              <a:defRPr sz="1400">
                <a:solidFill>
                  <a:srgbClr val="94A3B8"/>
                </a:solidFill>
                <a:latin typeface="Calibri"/>
              </a:defRPr>
            </a:pPr>
            <a:r>
              <a:t>   •  The CI/CD pipeline verified that modern kernels and proper</a:t>
            </a:r>
          </a:p>
          <a:p>
            <a:pPr>
              <a:spcAft>
                <a:spcPts val="1000"/>
              </a:spcAft>
              <a:defRPr sz="1400">
                <a:solidFill>
                  <a:srgbClr val="94A3B8"/>
                </a:solidFill>
                <a:latin typeface="Calibri"/>
              </a:defRPr>
            </a:pPr>
            <a:r>
              <a:t>   •  read-only volume controls successfully contain advanced escapes.</a:t>
            </a:r>
          </a:p>
          <a:p>
            <a:pPr>
              <a:spcAft>
                <a:spcPts val="1000"/>
              </a:spcAft>
              <a:defRPr sz="1500" b="1">
                <a:solidFill>
                  <a:srgbClr val="FFFFFF"/>
                </a:solidFill>
                <a:latin typeface="Calibri"/>
              </a:defRPr>
            </a:pPr>
            <a:r>
              <a:t>•  Continuous Security Regression Testing</a:t>
            </a:r>
          </a:p>
          <a:p>
            <a:pPr>
              <a:spcAft>
                <a:spcPts val="1000"/>
              </a:spcAft>
              <a:defRPr sz="1400">
                <a:solidFill>
                  <a:srgbClr val="94A3B8"/>
                </a:solidFill>
                <a:latin typeface="Calibri"/>
              </a:defRPr>
            </a:pPr>
            <a:r>
              <a:t>   •  Integrating automated lab checks in GHA stops regressions before deploy.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0" y="1645920"/>
            <a:ext cx="4846320" cy="4389120"/>
          </a:xfrm>
          <a:prstGeom prst="rect">
            <a:avLst/>
          </a:prstGeom>
          <a:solidFill>
            <a:srgbClr val="1E293B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400"/>
              </a:spcAft>
              <a:defRPr sz="1400" b="1">
                <a:solidFill>
                  <a:srgbClr val="FFFFFF"/>
                </a:solidFill>
                <a:latin typeface="Trebuchet MS"/>
              </a:defRPr>
            </a:pPr>
            <a:r>
              <a:t>THE GOLDEN RULE OF DEVSECOPS</a:t>
            </a:r>
          </a:p>
          <a:p>
            <a:pPr>
              <a:spcAft>
                <a:spcPts val="800"/>
              </a:spcAft>
              <a:defRPr sz="1100" b="1">
                <a:solidFill>
                  <a:srgbClr val="06B6D4"/>
                </a:solidFill>
                <a:latin typeface="Calibri"/>
              </a:defRPr>
            </a:pPr>
            <a:r>
              <a:t>Final Recommendation</a:t>
            </a:r>
          </a:p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• Containers are NOT isolation virtual machines.</a:t>
            </a:r>
          </a:p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• Host OS updates are the baseline requirement for container cluster security.</a:t>
            </a:r>
          </a:p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• Drop capabilities, run as unprivileged users, mount volumes read-only, and audit docker.sock exposure constantly.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