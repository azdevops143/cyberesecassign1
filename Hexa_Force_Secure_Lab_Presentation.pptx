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TALK TRACK ===</a:t>
            </a:r>
          </a:p>
          <a:p>
            <a:r>
              <a:t>"Good morning, evaluators and distinguished guests. Welcome to the technical delivery of the Hexa Force Container Security Lab. Today, we are presenting our end-to-end container security demonstration, modeling a high-fidelity 4-stage attack chain and corresponding defense-in-depth hardening strategies. Over the next few minutes, we will walk you through how a local privilege escalation vulnerability can cascade into complete host takeover, and how modern cryptographic verification using keyless Sigstore/Cosign signing with GitHub Actions OIDC robustly secures the software delivery pipeline. Let us begin by reviewing our core objectives."</a:t>
            </a:r>
          </a:p>
          <a:p/>
          <a:p>
            <a:r>
              <a:t>=== CRITICAL TALKING POINTS ===</a:t>
            </a:r>
          </a:p>
          <a:p>
            <a:r>
              <a:t>• Establish the Hexa Force brand immediately with an authoritative and professional delivery.</a:t>
            </a:r>
          </a:p>
          <a:p>
            <a:r>
              <a:t>• Set the scope of the presentation: it is a balanced demonstration of an advanced attack chain and enterprise-grade cryptographic defense.</a:t>
            </a:r>
          </a:p>
          <a:p>
            <a:r>
              <a:t>• Emphasize key modern pipeline terms: Sigstore, Cosign, OIDC federation, and GHCR registry integrations.</a:t>
            </a:r>
          </a:p>
          <a:p/>
          <a:p>
            <a:r>
              <a:t>=== ANTICIPATED EVALUATOR Q&amp;A ===</a:t>
            </a:r>
          </a:p>
          <a:p>
            <a:r>
              <a:t>Question: What motivated the choice of this specific attack chain?</a:t>
            </a:r>
          </a:p>
          <a:p>
            <a:r>
              <a:t>Answer: We chose this specific progression because it realistically models how simple runtime misconfigurations and unpatched host-level vulnerabilities interact in enterprise microservices. It demonstrates that container security cannot rely on runtime isolation alone, but must encompass host hardening, image provenance, and CI/CD integrity.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TALK TRACK ===</a:t>
            </a:r>
          </a:p>
          <a:p>
            <a:r>
              <a:t>"Our presentation today is structured into four main areas. First, we establish the threat landscape and the 4 Security Pillars of Containers. Next, we walk step-by-step through our 4-stage attack simulation, showcasing how we break kernel isolation, processes, APIs, and volume mounts. Third, we present our cryptographic supply chain integrity pipeline using Cosign and OpenID Connect. Finally, we conclude with our enterprise-grade hardening recommendations and DevSecOps best practices to secure any modern production cluster."</a:t>
            </a:r>
          </a:p>
          <a:p/>
          <a:p>
            <a:r>
              <a:t>=== CRITICAL TALKING POINTS ===</a:t>
            </a:r>
          </a:p>
          <a:p>
            <a:r>
              <a:t>• Guide the audience through the agenda to show structural clarity and excellent preparation.</a:t>
            </a:r>
          </a:p>
          <a:p>
            <a:r>
              <a:t>• Emphasize that the lab moves logically from threat identification (simulation) to threat neutralization (hardening).</a:t>
            </a:r>
          </a:p>
          <a:p>
            <a:r>
              <a:t>• Make it clear that the defense-in-depth framework applies to all levels: runtime, pipeline, and host kernel.</a:t>
            </a:r>
          </a:p>
          <a:p/>
          <a:p>
            <a:r>
              <a:t>=== ANTICIPATED EVALUATOR Q&amp;A ===</a:t>
            </a:r>
          </a:p>
          <a:p>
            <a:r>
              <a:t>Question: What is the most critical phase of the agenda?</a:t>
            </a:r>
          </a:p>
          <a:p>
            <a:r>
              <a:t>Answer: While the exploit phase demonstrates the weakness, the supply chain integrity section is the most critical. Securing the container runtime is only half the battle; we must also guarantee code provenance through modern cryptographic signing to prevent unauthorized container execution.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TALK TRACK ===</a:t>
            </a:r>
          </a:p>
          <a:p>
            <a:r>
              <a:t>"To secure any containerized environment, we must evaluate the four foundational security pillars: (1) Host Kernel Isolation, (2) Process &amp; Capabilities Isolation, (3) Daemon &amp; API Security, and (4) Volume &amp; Filesystem Security. Standard container systems share the host kernel, which means a kernel vulnerability exposes the host. Processes inside a container must be strictly limited via Linux capabilities to prevent privilege abuse. The Docker API daemon socket must never be exposed to untrusted environments, and physical volume mounts must be strictly governed to prevent directory traversal and host escapes. Let us look at Stage 1, where kernel isolation is broken."</a:t>
            </a:r>
          </a:p>
          <a:p/>
          <a:p>
            <a:r>
              <a:t>=== CRITICAL TALKING POINTS ===</a:t>
            </a:r>
          </a:p>
          <a:p>
            <a:r>
              <a:t>• Introduce the 4 Pillars as the industry-standard frame of reference for evaluating container security.</a:t>
            </a:r>
          </a:p>
          <a:p>
            <a:r>
              <a:t>• Explain the shared kernel model: containers are lightweight because they share the host kernel, which is also their primary single point of failure.</a:t>
            </a:r>
          </a:p>
          <a:p>
            <a:r>
              <a:t>• Emphasize that security must be applied across all 4 pillars simultaneously; securing only one layer leaves the system vulnerable.</a:t>
            </a:r>
          </a:p>
          <a:p/>
          <a:p>
            <a:r>
              <a:t>=== ANTICIPATED EVALUATOR Q&amp;A ===</a:t>
            </a:r>
          </a:p>
          <a:p>
            <a:r>
              <a:t>Question: Why is kernel sharing the ultimate double-edged sword for containers?</a:t>
            </a:r>
          </a:p>
          <a:p>
            <a:r>
              <a:t>Answer: Soapbox container systems gain lightweight speed and resource efficiency from sharing the kernel, but inherit a unified single point of failure. If the host kernel has a vulnerability, container barriers are fundamentally bypassed, collapsing the first and most critical isolation pillar.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TALK TRACK ===</a:t>
            </a:r>
          </a:p>
          <a:p>
            <a:r>
              <a:t>"At Stage 1, we execute our first exploit inside an unprivileged container. Running as the unprivileged user 'victim', we execute our compiled binary, 'dirtyc0w'. This exploit targets the Dirty COW kernel vulnerability, which is a race condition in the kernel's virtual memory subsystem's handling of Copy-on-Write. We target a read-only secret file, '/var/secret/target.txt'. By using madvise with the MADV_DONTNEED flag, we race the kernel's write mechanisms, tricking the kernel into writing root-owned data into a read-only memory segment. This instantly elevates our privilege from an unprivileged user to container root."</a:t>
            </a:r>
          </a:p>
          <a:p/>
          <a:p>
            <a:r>
              <a:t>=== CRITICAL TALKING POINTS ===</a:t>
            </a:r>
          </a:p>
          <a:p>
            <a:r>
              <a:t>• Focus heavily on the virtual memory mechanics: Copy-on-Write, madvise system call, and the O_RDONLY file bypass.</a:t>
            </a:r>
          </a:p>
          <a:p>
            <a:r>
              <a:t>• Clearly declare CVE-2016-5195 to demonstrate deep technical mastery and precise vulnerability tracking.</a:t>
            </a:r>
          </a:p>
          <a:p>
            <a:r>
              <a:t>• Emphasize that this first exploit is executed as a non-root, unprivileged user, simulating a compromised microservice shell.</a:t>
            </a:r>
          </a:p>
          <a:p/>
          <a:p>
            <a:r>
              <a:t>=== ANTICIPATED EVALUATOR Q&amp;A ===</a:t>
            </a:r>
          </a:p>
          <a:p>
            <a:r>
              <a:t>Question: Why does a local privilege escalation inside a container matter if it is isolated?</a:t>
            </a:r>
          </a:p>
          <a:p>
            <a:r>
              <a:t>Answer: Local privilege escalation is the beachhead. While namespaces still limit what a container root user can see, obtaining root privileges is the prerequisite for abusing other exposed interfaces, such as Linux capabilities (like CAP_SYS_ADMIN), raw network sockets, or system files.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TALK TRACK ===</a:t>
            </a:r>
          </a:p>
          <a:p>
            <a:r>
              <a:t>"In Stage 2, we exploit process-level privileges. Having achieved container root in Stage 1, we now check the container's capabilities. If a container is run with elevated Linux capabilities, such as CAP_SYS_ADMIN, the boundaries of standard container isolation begin to disintegrate. Linux capabilities partition traditional superuser root powers into distinct, assignable units. By abusing CAP_SYS_ADMIN, we gain the authority to modify kernel namespaces and mount external devices, laying the physical groundwork for our escape to the host filesystem."</a:t>
            </a:r>
          </a:p>
          <a:p/>
          <a:p>
            <a:r>
              <a:t>=== CRITICAL TALKING POINTS ===</a:t>
            </a:r>
          </a:p>
          <a:p>
            <a:r>
              <a:t>• Explain the concept of Linux capabilities: splitting traditional all-or-nothing root powers into fine-grained permissions.</a:t>
            </a:r>
          </a:p>
          <a:p>
            <a:r>
              <a:t>• Emphasize CAP_SYS_ADMIN as the root of all process isolation failures inside containers.</a:t>
            </a:r>
          </a:p>
          <a:p>
            <a:r>
              <a:t>• Discuss the principle of least privilege: containers must drop all unnecessary capabilities by default.</a:t>
            </a:r>
          </a:p>
          <a:p/>
          <a:p>
            <a:r>
              <a:t>=== ANTICIPATED EVALUATOR Q&amp;A ===</a:t>
            </a:r>
          </a:p>
          <a:p>
            <a:r>
              <a:t>Question: What are some alternatives to granting CAP_SYS_ADMIN to containers?</a:t>
            </a:r>
          </a:p>
          <a:p>
            <a:r>
              <a:t>Answer: Administrators should perform strict capability profiling and grant only the narrowest possible capabilities (like CAP_NET_BIND_SERVICE for low-port binding) instead of CAP_SYS_ADMIN. If system-level tasks are required, a dedicated daemon or sidecar pattern should be evaluated.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TALK TRACK ===</a:t>
            </a:r>
          </a:p>
          <a:p>
            <a:r>
              <a:t>"Stage 3 demonstrates a critical lateral movement vector: the exposed Docker socket. In many development environments, administrators mount the host's Docker socket—'/var/run/docker.sock'—directly into the container to enable nested docker tasks. Since our Stage 1 exploit gave us root privileges inside the container, we have full read/write permission to this socket. Because the Docker socket is the direct command API to the host's Docker engine, we can now send API requests directly to the host daemon, giving us full command over the host's container lifecycle."</a:t>
            </a:r>
          </a:p>
          <a:p/>
          <a:p>
            <a:r>
              <a:t>=== CRITICAL TALKING POINTS ===</a:t>
            </a:r>
          </a:p>
          <a:p>
            <a:r>
              <a:t>• Highlight the absolute danger of the Docker socket (/var/run/docker.sock) exposure.</a:t>
            </a:r>
          </a:p>
          <a:p>
            <a:r>
              <a:t>• Describe the Docker socket as the entry point to the host's physical container engine.</a:t>
            </a:r>
          </a:p>
          <a:p>
            <a:r>
              <a:t>• Explain how controlling the socket allows the containerized root user to send administrative API commands directly to the host daemon.</a:t>
            </a:r>
          </a:p>
          <a:p/>
          <a:p>
            <a:r>
              <a:t>=== ANTICIPATED EVALUATOR Q&amp;A ===</a:t>
            </a:r>
          </a:p>
          <a:p>
            <a:r>
              <a:t>Question: What is the principal security risk of mounting the Docker socket inside a container?</a:t>
            </a:r>
          </a:p>
          <a:p>
            <a:r>
              <a:t>Answer: Mounting the Docker socket is equivalent to granting root access to the physical host. Anyone with access to the socket can send commands to the host Docker daemon to pull arbitrary images, create new privileged containers, and mount the host's physical hard drives, rendering container isolation completely obsolete.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TALK TRACK ===</a:t>
            </a:r>
          </a:p>
          <a:p>
            <a:r>
              <a:t>"In Stage 4, we execute the final breakout. Using our access to the Docker socket, we issue an API command to launch a new, highly privileged container on the host. In its configuration, we mount the host's physical root filesystem to '/mnt/host' inside the container. Because this container runs with full host namespace access, we traverse directly into '/mnt/host/etc/cron.d' and write a malicious cron job. When the host's cron daemon executes, it runs our script and opens a root-privileged reverse shell back to our attack machine. We have achieved complete host takeover."</a:t>
            </a:r>
          </a:p>
          <a:p/>
          <a:p>
            <a:r>
              <a:t>=== CRITICAL TALKING POINTS ===</a:t>
            </a:r>
          </a:p>
          <a:p>
            <a:r>
              <a:t>• Detail the mechanical steps of host escape: privileged container instantiation $_x000D_ightarrow$ root filesystem mount $_x000D_ightarrow$ cron job injection.</a:t>
            </a:r>
          </a:p>
          <a:p>
            <a:r>
              <a:t>• Emphasize the threat of persistence: writing to `/etc/cron.d` guarantees that the host daemon will re-execute the reverse shell periodically.</a:t>
            </a:r>
          </a:p>
          <a:p>
            <a:r>
              <a:t>• Establish that this completes a full, high-severity exploit chain from a low-privileged container user to total physical host control.</a:t>
            </a:r>
          </a:p>
          <a:p/>
          <a:p>
            <a:r>
              <a:t>=== ANTICIPATED EVALUATOR Q&amp;A ===</a:t>
            </a:r>
          </a:p>
          <a:p>
            <a:r>
              <a:t>Question: How can host filesystem mounting be blocked at the enterprise level?</a:t>
            </a:r>
          </a:p>
          <a:p>
            <a:r>
              <a:t>Answer: Enterprises should implement Kubernetes Pod Security Admissions (PSA) or open-source policies (like OPA Gatekeeper or Kyverno) to strictly enforce that containers cannot run in privileged mode, share the host PID/IPC namespaces, or mount host paths.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TALK TRACK ===</a:t>
            </a:r>
          </a:p>
          <a:p>
            <a:r>
              <a:t>"Beyond runtime hardening, Hexa Force secures the software supply chain using state-of-the-art keyless container signing via Cosign. Traditional signing relies on storing highly sensitive cryptographic private keys. If these keys are leaked, the supply chain is compromised. Hexa Force avoids this completely. We leverage OpenID Connect to exchange GitHub Action build identities for temporary, 10-minute certificates. Cosign signs the built image, recording the signature in the immutable public Rekor transparency log, guaranteeing container origin and integrity."</a:t>
            </a:r>
          </a:p>
          <a:p/>
          <a:p>
            <a:r>
              <a:t>=== CRITICAL TALKING POINTS ===</a:t>
            </a:r>
          </a:p>
          <a:p>
            <a:r>
              <a:t>• Contrast traditional key management with modern keyless container signing.</a:t>
            </a:r>
          </a:p>
          <a:p>
            <a:r>
              <a:t>• Define the role of Sigstore: Fulcio issues short-lived certificates, Rekor provides the immutable public ledger.</a:t>
            </a:r>
          </a:p>
          <a:p>
            <a:r>
              <a:t>• Explain the cryptographic trust path: the signature is bound to a specific OIDC builder identity, verifying code provenance.</a:t>
            </a:r>
          </a:p>
          <a:p/>
          <a:p>
            <a:r>
              <a:t>=== ANTICIPATED EVALUATOR Q&amp;A ===</a:t>
            </a:r>
          </a:p>
          <a:p>
            <a:r>
              <a:t>Question: What is Fulcio's role in keyless signing?</a:t>
            </a:r>
          </a:p>
          <a:p>
            <a:r>
              <a:t>Answer: Fulcio is the Sigstore Certificate Authority. It issues short-lived (10-minute) X.509 certificates. The certificate is bound to an OIDC token issued by a trusted identity provider (like GitHub Actions), proving that the build pipeline itself signed the container.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TALK TRACK ===</a:t>
            </a:r>
          </a:p>
          <a:p>
            <a:r>
              <a:t>"We operationalize this supply chain defense by automating the entire pipeline inside GitHub Actions. Upon a push to the main branch, our workflow triggers. It builds the Docker image, dynamically converts the image tag to lowercase using bash expansion to ensure compatibility with container registry specifications, and pushes it to the GitHub Container Registry. Immediately, Cosign uses the OIDC identity to sign the image. This seamless, automated pipeline guarantees that only verified and signed code is allowed to run in our production environment."</a:t>
            </a:r>
          </a:p>
          <a:p/>
          <a:p>
            <a:r>
              <a:t>=== CRITICAL TALKING POINTS ===</a:t>
            </a:r>
          </a:p>
          <a:p>
            <a:r>
              <a:t>• Highlight the automation aspects of the GHA workflow: building, lowercasing, pushing to GHCR, and signing.</a:t>
            </a:r>
          </a:p>
          <a:p>
            <a:r>
              <a:t>• Explain the lowercase string translation `${GITHUB_REPOSITORY,,}` as a crucial Docker OCI registry compliance step.</a:t>
            </a:r>
          </a:p>
          <a:p>
            <a:r>
              <a:t>• Position the CI/CD pipeline as the core policy enforcement point of your security program.</a:t>
            </a:r>
          </a:p>
          <a:p/>
          <a:p>
            <a:r>
              <a:t>=== ANTICIPATED EVALUATOR Q&amp;A ===</a:t>
            </a:r>
          </a:p>
          <a:p>
            <a:r>
              <a:t>Question: How does signature verification work inside a Kubernetes cluster?</a:t>
            </a:r>
          </a:p>
          <a:p>
            <a:r>
              <a:t>Answer: A validation controller (like Cosign Policy Controller or Kyverno) runs as an Admission Controller in the cluster. When a new pod request is made, the controller queries the Rekor transparency log to verify the image's cryptographic signature against the allowed OIDC builder identity, rejecting any unsigned or unverified images.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TALK TRACK ===</a:t>
            </a:r>
          </a:p>
          <a:p>
            <a:r>
              <a:t>"Let us examine how we completely remediate this threat. Hexa Force implements a comprehensive Defense-in-Depth architecture. First, we restrict container capabilities by explicitly dropping CAP_SYS_ADMIN. Second, we run the container as a non-root user and mark the root filesystem as read-only. Third, we block all exposure of the Docker socket. Finally, we apply kernel security patches to eliminate Dirty COW at the host level. Even if an attacker gains an initial shell, these combined controls prevent them from ever gaining root or escaping the container."</a:t>
            </a:r>
          </a:p>
          <a:p/>
          <a:p>
            <a:r>
              <a:t>=== CRITICAL TALKING POINTS ===</a:t>
            </a:r>
          </a:p>
          <a:p>
            <a:r>
              <a:t>• Emphasize the four layers of defense: capability dropping, non-root runtimes, read-only rootfs, and kernel patching.</a:t>
            </a:r>
          </a:p>
          <a:p>
            <a:r>
              <a:t>• Discuss the concept of Defense-in-Depth: even if one layer fails, subsequent layers prevent the exploit from succeeding.</a:t>
            </a:r>
          </a:p>
          <a:p>
            <a:r>
              <a:t>• Position these controls as standard, low-overhead enterprise recommendations.</a:t>
            </a:r>
          </a:p>
          <a:p/>
          <a:p>
            <a:r>
              <a:t>=== ANTICIPATED EVALUATOR Q&amp;A ===</a:t>
            </a:r>
          </a:p>
          <a:p>
            <a:r>
              <a:t>Question: What is the security value of a read-only container root filesystem?</a:t>
            </a:r>
          </a:p>
          <a:p>
            <a:r>
              <a:t>Answer: A read-only root filesystem prevents an attacker from writing files, installing tools, downloading exploit scripts, or compiling C binaries (like `dirtyc0w.c`) inside the container. It dramatically reduces the available attack surface and prevents runtime environmental tampering.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TALK TRACK ===</a:t>
            </a:r>
          </a:p>
          <a:p>
            <a:r>
              <a:t>"In conclusion, the Hexa Force Container Security Lab successfully demonstrates the extreme vulnerability of default container runtimes, while delivering an enterprise-ready blueprint for comprehensive defense. By pairing strict runtime hardening policies with cryptographic supply chain verification, we ensure complete resilience against host compromises and supply chain injection. Thank you for your time. The Hexa Force team is now open to your technical questions."</a:t>
            </a:r>
          </a:p>
          <a:p/>
          <a:p>
            <a:r>
              <a:t>=== CRITICAL TALKING POINTS ===</a:t>
            </a:r>
          </a:p>
          <a:p>
            <a:r>
              <a:t>• Deliver a clean, professional closing statement summarizing the core achievements.</a:t>
            </a:r>
          </a:p>
          <a:p>
            <a:r>
              <a:t>• Reiterate the value of combining runtime isolation with cryptographic verification.</a:t>
            </a:r>
          </a:p>
          <a:p>
            <a:r>
              <a:t>• Invite questions with absolute confidence, ready to leverage your detailed Q&amp;As.</a:t>
            </a:r>
          </a:p>
          <a:p/>
          <a:p>
            <a:r>
              <a:t>=== ANTICIPATED EVALUATOR Q&amp;A ===</a:t>
            </a:r>
          </a:p>
          <a:p>
            <a:r>
              <a:t>Question: What is the single most important lesson from this research?</a:t>
            </a:r>
          </a:p>
          <a:p>
            <a:r>
              <a:t>Answer: Security is a multi-layered process. We cannot rely on container virtualization as a bulletproof sandbox. We must harden the host kernel, enforce the principle of least privilege inside the container, and use cryptographic pipelines to guarantee that only trusted code ever enters the execution environment.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685800" y="2011680"/>
            <a:ext cx="109728" cy="29260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058400" cy="365760"/>
          </a:xfrm>
          <a:prstGeom prst="rect">
            <a:avLst/>
          </a:prstGeom>
          <a:noFill/>
        </p:spPr>
        <p:txBody>
          <a:bodyPr wrap="square">
            <a:spAutoFit/>
          </a:bodyPr>
          <a:lstStyle/>
          <a:p>
            <a:pPr>
              <a:defRPr sz="1100" b="1">
                <a:solidFill>
                  <a:srgbClr val="2563EB"/>
                </a:solidFill>
                <a:latin typeface="Arial"/>
              </a:defRPr>
            </a:pPr>
            <a:r>
              <a:t>HEXA FORCE LAB DELIVERY</a:t>
            </a:r>
          </a:p>
        </p:txBody>
      </p:sp>
      <p:sp>
        <p:nvSpPr>
          <p:cNvPr id="4" name="TextBox 3"/>
          <p:cNvSpPr txBox="1"/>
          <p:nvPr/>
        </p:nvSpPr>
        <p:spPr>
          <a:xfrm>
            <a:off x="914400" y="2377440"/>
            <a:ext cx="10058400" cy="1645920"/>
          </a:xfrm>
          <a:prstGeom prst="rect">
            <a:avLst/>
          </a:prstGeom>
          <a:noFill/>
        </p:spPr>
        <p:txBody>
          <a:bodyPr wrap="square">
            <a:spAutoFit/>
          </a:bodyPr>
          <a:lstStyle/>
          <a:p>
            <a:pPr>
              <a:defRPr sz="4200" b="1">
                <a:solidFill>
                  <a:srgbClr val="FFFFFF"/>
                </a:solidFill>
                <a:latin typeface="Arial"/>
              </a:defRPr>
            </a:pPr>
            <a:r>
              <a:t>HEXA FORCE CONTAINER LAB</a:t>
            </a:r>
          </a:p>
        </p:txBody>
      </p:sp>
      <p:sp>
        <p:nvSpPr>
          <p:cNvPr id="5" name="TextBox 4"/>
          <p:cNvSpPr txBox="1"/>
          <p:nvPr/>
        </p:nvSpPr>
        <p:spPr>
          <a:xfrm>
            <a:off x="914400" y="3931920"/>
            <a:ext cx="10058400" cy="914400"/>
          </a:xfrm>
          <a:prstGeom prst="rect">
            <a:avLst/>
          </a:prstGeom>
          <a:noFill/>
        </p:spPr>
        <p:txBody>
          <a:bodyPr wrap="square">
            <a:spAutoFit/>
          </a:bodyPr>
          <a:lstStyle/>
          <a:p>
            <a:pPr>
              <a:defRPr sz="1600">
                <a:solidFill>
                  <a:srgbClr val="94A3B8"/>
                </a:solidFill>
                <a:latin typeface="Arial"/>
              </a:defRPr>
            </a:pPr>
            <a:r>
              <a:t>4-Stage DevSecOps Attack &amp; Mitigation Laboratory</a:t>
            </a:r>
            <a:br/>
            <a:r>
              <a:t>Cryptographically Signed Container Architectures, OIDC Trust, and DevSecOps Containment Rules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365760"/>
            <a:ext cx="10817352" cy="274320"/>
          </a:xfrm>
          <a:prstGeom prst="rect">
            <a:avLst/>
          </a:prstGeom>
          <a:noFill/>
        </p:spPr>
        <p:txBody>
          <a:bodyPr wrap="square" lIns="0" rIns="0" tIns="0" bIns="0">
            <a:spAutoFit/>
          </a:bodyPr>
          <a:lstStyle/>
          <a:p>
            <a:pPr>
              <a:defRPr sz="950" b="1">
                <a:solidFill>
                  <a:srgbClr val="2563EB"/>
                </a:solidFill>
                <a:latin typeface="Arial"/>
              </a:defRPr>
            </a:pPr>
            <a:r>
              <a:t>HEXA FORCE CONTAINER SECURITY SERIES</a:t>
            </a:r>
          </a:p>
        </p:txBody>
      </p:sp>
      <p:sp>
        <p:nvSpPr>
          <p:cNvPr id="3" name="TextBox 2"/>
          <p:cNvSpPr txBox="1"/>
          <p:nvPr/>
        </p:nvSpPr>
        <p:spPr>
          <a:xfrm>
            <a:off x="685800" y="594360"/>
            <a:ext cx="10817352" cy="731520"/>
          </a:xfrm>
          <a:prstGeom prst="rect">
            <a:avLst/>
          </a:prstGeom>
          <a:noFill/>
        </p:spPr>
        <p:txBody>
          <a:bodyPr wrap="square" lIns="0" rIns="0" tIns="0" bIns="0">
            <a:spAutoFit/>
          </a:bodyPr>
          <a:lstStyle/>
          <a:p>
            <a:pPr>
              <a:defRPr sz="2800" b="1">
                <a:solidFill>
                  <a:srgbClr val="FFFFFF"/>
                </a:solidFill>
                <a:latin typeface="Arial"/>
              </a:defRPr>
            </a:pPr>
            <a:r>
              <a:t>Briefing &amp; Laboratory Agenda</a:t>
            </a:r>
          </a:p>
        </p:txBody>
      </p:sp>
      <p:sp>
        <p:nvSpPr>
          <p:cNvPr id="4" name="Rectangle 3"/>
          <p:cNvSpPr/>
          <p:nvPr/>
        </p:nvSpPr>
        <p:spPr>
          <a:xfrm>
            <a:off x="68580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SECTION 1: VULNERABILITY &amp; EXPLOITATION</a:t>
            </a:r>
          </a:p>
          <a:p>
            <a:pPr>
              <a:spcAft>
                <a:spcPts val="600"/>
              </a:spcAft>
              <a:defRPr sz="1300">
                <a:solidFill>
                  <a:srgbClr val="F1F5F9"/>
                </a:solidFill>
                <a:latin typeface="Arial"/>
              </a:defRPr>
            </a:pPr>
            <a:r>
              <a:t>• Core Architecture: Shared Linux kernel virtualization and standard container security assumptions.</a:t>
            </a:r>
          </a:p>
          <a:p>
            <a:pPr>
              <a:spcAft>
                <a:spcPts val="600"/>
              </a:spcAft>
              <a:defRPr sz="1300">
                <a:solidFill>
                  <a:srgbClr val="F1F5F9"/>
                </a:solidFill>
                <a:latin typeface="Arial"/>
              </a:defRPr>
            </a:pPr>
            <a:r>
              <a:t>• The Exploit: Detailed execution of the CVE-2016-5195 Copy-on-Write local privilege escalation.</a:t>
            </a:r>
          </a:p>
          <a:p>
            <a:pPr>
              <a:spcAft>
                <a:spcPts val="600"/>
              </a:spcAft>
              <a:defRPr sz="1300">
                <a:solidFill>
                  <a:srgbClr val="F1F5F9"/>
                </a:solidFill>
                <a:latin typeface="Arial"/>
              </a:defRPr>
            </a:pPr>
            <a:r>
              <a:t>• 4-Stage Attack Chain: Moving from low-privileged shell to process capability abuse, API exposure, and persistent host takeover.</a:t>
            </a:r>
          </a:p>
        </p:txBody>
      </p:sp>
      <p:sp>
        <p:nvSpPr>
          <p:cNvPr id="6" name="Rectangle 5"/>
          <p:cNvSpPr/>
          <p:nvPr/>
        </p:nvSpPr>
        <p:spPr>
          <a:xfrm>
            <a:off x="621792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SECTION 2: DEFENSE-IN-DEPTH &amp; PIPELINE</a:t>
            </a:r>
          </a:p>
          <a:p>
            <a:pPr>
              <a:spcAft>
                <a:spcPts val="600"/>
              </a:spcAft>
              <a:defRPr sz="1300">
                <a:solidFill>
                  <a:srgbClr val="F1F5F9"/>
                </a:solidFill>
                <a:latin typeface="Arial"/>
              </a:defRPr>
            </a:pPr>
            <a:r>
              <a:t>• Runtime Mitigation: Implementing strict Linux capability profiles, non-root system users, and read-only container rootfs.</a:t>
            </a:r>
          </a:p>
          <a:p>
            <a:pPr>
              <a:spcAft>
                <a:spcPts val="600"/>
              </a:spcAft>
              <a:defRPr sz="1300">
                <a:solidFill>
                  <a:srgbClr val="F1F5F9"/>
                </a:solidFill>
                <a:latin typeface="Arial"/>
              </a:defRPr>
            </a:pPr>
            <a:r>
              <a:t>• Supply Chain Provenance: Constructing a secure CI/CD build pipeline using Cosign and GitHub Actions OpenID Connect (OIDC).</a:t>
            </a:r>
          </a:p>
          <a:p>
            <a:pPr>
              <a:spcAft>
                <a:spcPts val="600"/>
              </a:spcAft>
              <a:defRPr sz="1300">
                <a:solidFill>
                  <a:srgbClr val="F1F5F9"/>
                </a:solidFill>
                <a:latin typeface="Arial"/>
              </a:defRPr>
            </a:pPr>
            <a:r>
              <a:t>• Integrity Validation: Keyless container signing verified against public transparency ledgers (Rekor).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365760"/>
            <a:ext cx="10817352" cy="274320"/>
          </a:xfrm>
          <a:prstGeom prst="rect">
            <a:avLst/>
          </a:prstGeom>
          <a:noFill/>
        </p:spPr>
        <p:txBody>
          <a:bodyPr wrap="square" lIns="0" rIns="0" tIns="0" bIns="0">
            <a:spAutoFit/>
          </a:bodyPr>
          <a:lstStyle/>
          <a:p>
            <a:pPr>
              <a:defRPr sz="950" b="1">
                <a:solidFill>
                  <a:srgbClr val="2563EB"/>
                </a:solidFill>
                <a:latin typeface="Arial"/>
              </a:defRPr>
            </a:pPr>
            <a:r>
              <a:t>HEXA FORCE CONTAINER SECURITY SERIES</a:t>
            </a:r>
          </a:p>
        </p:txBody>
      </p:sp>
      <p:sp>
        <p:nvSpPr>
          <p:cNvPr id="3" name="TextBox 2"/>
          <p:cNvSpPr txBox="1"/>
          <p:nvPr/>
        </p:nvSpPr>
        <p:spPr>
          <a:xfrm>
            <a:off x="685800" y="594360"/>
            <a:ext cx="10817352" cy="731520"/>
          </a:xfrm>
          <a:prstGeom prst="rect">
            <a:avLst/>
          </a:prstGeom>
          <a:noFill/>
        </p:spPr>
        <p:txBody>
          <a:bodyPr wrap="square" lIns="0" rIns="0" tIns="0" bIns="0">
            <a:spAutoFit/>
          </a:bodyPr>
          <a:lstStyle/>
          <a:p>
            <a:pPr>
              <a:defRPr sz="2800" b="1">
                <a:solidFill>
                  <a:srgbClr val="FFFFFF"/>
                </a:solidFill>
                <a:latin typeface="Arial"/>
              </a:defRPr>
            </a:pPr>
            <a:r>
              <a:t>The 4 Security Pillars of Containers</a:t>
            </a:r>
          </a:p>
        </p:txBody>
      </p:sp>
      <p:sp>
        <p:nvSpPr>
          <p:cNvPr id="4" name="Rectangle 3"/>
          <p:cNvSpPr/>
          <p:nvPr/>
        </p:nvSpPr>
        <p:spPr>
          <a:xfrm>
            <a:off x="68580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PILLAR 1 &amp; 2: KERNEL &amp; PROCESS ISOLATION</a:t>
            </a:r>
          </a:p>
          <a:p>
            <a:pPr>
              <a:spcAft>
                <a:spcPts val="600"/>
              </a:spcAft>
              <a:defRPr sz="1300">
                <a:solidFill>
                  <a:srgbClr val="F1F5F9"/>
                </a:solidFill>
                <a:latin typeface="Arial"/>
              </a:defRPr>
            </a:pPr>
            <a:r>
              <a:t>• Host Kernel Sharing: The core lightweight efficiency of containers is their chief weakness: direct exposure to local host kernel exploits.</a:t>
            </a:r>
          </a:p>
          <a:p>
            <a:pPr>
              <a:spcAft>
                <a:spcPts val="600"/>
              </a:spcAft>
              <a:defRPr sz="1300">
                <a:solidFill>
                  <a:srgbClr val="F1F5F9"/>
                </a:solidFill>
                <a:latin typeface="Arial"/>
              </a:defRPr>
            </a:pPr>
            <a:r>
              <a:t>• Linux Capabilities: Processes are limited by partitioned system call permissions. Excess privileges (like CAP_SYS_ADMIN) break container namespaces.</a:t>
            </a:r>
          </a:p>
        </p:txBody>
      </p:sp>
      <p:sp>
        <p:nvSpPr>
          <p:cNvPr id="6" name="Rectangle 5"/>
          <p:cNvSpPr/>
          <p:nvPr/>
        </p:nvSpPr>
        <p:spPr>
          <a:xfrm>
            <a:off x="621792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PILLAR 3 &amp; 4: API &amp; VOLUME BOUNDARIES</a:t>
            </a:r>
          </a:p>
          <a:p>
            <a:pPr>
              <a:spcAft>
                <a:spcPts val="600"/>
              </a:spcAft>
              <a:defRPr sz="1300">
                <a:solidFill>
                  <a:srgbClr val="F1F5F9"/>
                </a:solidFill>
                <a:latin typeface="Arial"/>
              </a:defRPr>
            </a:pPr>
            <a:r>
              <a:t>• Daemon API Security: Mounting '/var/run/docker.sock' directly inside a container allows the container root user to command the host Docker engine.</a:t>
            </a:r>
          </a:p>
          <a:p>
            <a:pPr>
              <a:spcAft>
                <a:spcPts val="600"/>
              </a:spcAft>
              <a:defRPr sz="1300">
                <a:solidFill>
                  <a:srgbClr val="F1F5F9"/>
                </a:solidFill>
                <a:latin typeface="Arial"/>
              </a:defRPr>
            </a:pPr>
            <a:r>
              <a:t>• Filesystem &amp; Volume Mounts: Poor volume mount scopes allow path traversals, filesystem write access, and persistent injection into host runtimes.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365760"/>
            <a:ext cx="10817352" cy="274320"/>
          </a:xfrm>
          <a:prstGeom prst="rect">
            <a:avLst/>
          </a:prstGeom>
          <a:noFill/>
        </p:spPr>
        <p:txBody>
          <a:bodyPr wrap="square" lIns="0" rIns="0" tIns="0" bIns="0">
            <a:spAutoFit/>
          </a:bodyPr>
          <a:lstStyle/>
          <a:p>
            <a:pPr>
              <a:defRPr sz="950" b="1">
                <a:solidFill>
                  <a:srgbClr val="2563EB"/>
                </a:solidFill>
                <a:latin typeface="Arial"/>
              </a:defRPr>
            </a:pPr>
            <a:r>
              <a:t>HEXA FORCE CONTAINER SECURITY SERIES</a:t>
            </a:r>
          </a:p>
        </p:txBody>
      </p:sp>
      <p:sp>
        <p:nvSpPr>
          <p:cNvPr id="3" name="TextBox 2"/>
          <p:cNvSpPr txBox="1"/>
          <p:nvPr/>
        </p:nvSpPr>
        <p:spPr>
          <a:xfrm>
            <a:off x="685800" y="594360"/>
            <a:ext cx="10817352" cy="731520"/>
          </a:xfrm>
          <a:prstGeom prst="rect">
            <a:avLst/>
          </a:prstGeom>
          <a:noFill/>
        </p:spPr>
        <p:txBody>
          <a:bodyPr wrap="square" lIns="0" rIns="0" tIns="0" bIns="0">
            <a:spAutoFit/>
          </a:bodyPr>
          <a:lstStyle/>
          <a:p>
            <a:pPr>
              <a:defRPr sz="2800" b="1">
                <a:solidFill>
                  <a:srgbClr val="FFFFFF"/>
                </a:solidFill>
                <a:latin typeface="Arial"/>
              </a:defRPr>
            </a:pPr>
            <a:r>
              <a:t>Stage 1: Host Kernel Isolation (Dirty COW)</a:t>
            </a:r>
          </a:p>
        </p:txBody>
      </p:sp>
      <p:sp>
        <p:nvSpPr>
          <p:cNvPr id="4" name="Rectangle 3"/>
          <p:cNvSpPr/>
          <p:nvPr/>
        </p:nvSpPr>
        <p:spPr>
          <a:xfrm>
            <a:off x="68580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EXPLOIT VECTOR: CVE-2016-5195</a:t>
            </a:r>
          </a:p>
          <a:p>
            <a:pPr>
              <a:spcAft>
                <a:spcPts val="600"/>
              </a:spcAft>
              <a:defRPr sz="1300">
                <a:solidFill>
                  <a:srgbClr val="F1F5F9"/>
                </a:solidFill>
                <a:latin typeface="Arial"/>
              </a:defRPr>
            </a:pPr>
            <a:r>
              <a:t>• Initial shell secured as unprivileged user 'victim' inside the Docker container.</a:t>
            </a:r>
          </a:p>
          <a:p>
            <a:pPr>
              <a:spcAft>
                <a:spcPts val="600"/>
              </a:spcAft>
              <a:defRPr sz="1300">
                <a:solidFill>
                  <a:srgbClr val="F1F5F9"/>
                </a:solidFill>
                <a:latin typeface="Arial"/>
              </a:defRPr>
            </a:pPr>
            <a:r>
              <a:t>• Exploit compiled: 'dirtyc0w.c' uses memory mapping and multi-threaded race conditions.</a:t>
            </a:r>
          </a:p>
          <a:p>
            <a:pPr>
              <a:spcAft>
                <a:spcPts val="600"/>
              </a:spcAft>
              <a:defRPr sz="1300">
                <a:solidFill>
                  <a:srgbClr val="F1F5F9"/>
                </a:solidFill>
                <a:latin typeface="Arial"/>
              </a:defRPr>
            </a:pPr>
            <a:r>
              <a:t>• Memory target: Overwriting a read-only file ('/var/secret/target.txt') owned by container root.</a:t>
            </a:r>
          </a:p>
        </p:txBody>
      </p:sp>
      <p:sp>
        <p:nvSpPr>
          <p:cNvPr id="6" name="Rectangle 5"/>
          <p:cNvSpPr/>
          <p:nvPr/>
        </p:nvSpPr>
        <p:spPr>
          <a:xfrm>
            <a:off x="621792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TECHNICAL OUTCOME</a:t>
            </a:r>
          </a:p>
          <a:p>
            <a:pPr>
              <a:spcAft>
                <a:spcPts val="600"/>
              </a:spcAft>
              <a:defRPr sz="1300">
                <a:solidFill>
                  <a:srgbClr val="F1F5F9"/>
                </a:solidFill>
                <a:latin typeface="Arial"/>
              </a:defRPr>
            </a:pPr>
            <a:r>
              <a:t>• The exploit utilizes the 'madvise(MADV_DONTNEED)' system call to discard mapped page frames.</a:t>
            </a:r>
          </a:p>
          <a:p>
            <a:pPr>
              <a:spcAft>
                <a:spcPts val="600"/>
              </a:spcAft>
              <a:defRPr sz="1300">
                <a:solidFill>
                  <a:srgbClr val="F1F5F9"/>
                </a:solidFill>
                <a:latin typeface="Arial"/>
              </a:defRPr>
            </a:pPr>
            <a:r>
              <a:t>• Concurrently writes payload through the '/proc/self/mem' interface.</a:t>
            </a:r>
          </a:p>
          <a:p>
            <a:pPr>
              <a:spcAft>
                <a:spcPts val="600"/>
              </a:spcAft>
              <a:defRPr sz="1300">
                <a:solidFill>
                  <a:srgbClr val="F1F5F9"/>
                </a:solidFill>
                <a:latin typeface="Arial"/>
              </a:defRPr>
            </a:pPr>
            <a:r>
              <a:t>• Result: Bypasses file permissions, overwrites target, and escalates process privileges to container root.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365760"/>
            <a:ext cx="10817352" cy="274320"/>
          </a:xfrm>
          <a:prstGeom prst="rect">
            <a:avLst/>
          </a:prstGeom>
          <a:noFill/>
        </p:spPr>
        <p:txBody>
          <a:bodyPr wrap="square" lIns="0" rIns="0" tIns="0" bIns="0">
            <a:spAutoFit/>
          </a:bodyPr>
          <a:lstStyle/>
          <a:p>
            <a:pPr>
              <a:defRPr sz="950" b="1">
                <a:solidFill>
                  <a:srgbClr val="2563EB"/>
                </a:solidFill>
                <a:latin typeface="Arial"/>
              </a:defRPr>
            </a:pPr>
            <a:r>
              <a:t>HEXA FORCE CONTAINER SECURITY SERIES</a:t>
            </a:r>
          </a:p>
        </p:txBody>
      </p:sp>
      <p:sp>
        <p:nvSpPr>
          <p:cNvPr id="3" name="TextBox 2"/>
          <p:cNvSpPr txBox="1"/>
          <p:nvPr/>
        </p:nvSpPr>
        <p:spPr>
          <a:xfrm>
            <a:off x="685800" y="594360"/>
            <a:ext cx="10817352" cy="731520"/>
          </a:xfrm>
          <a:prstGeom prst="rect">
            <a:avLst/>
          </a:prstGeom>
          <a:noFill/>
        </p:spPr>
        <p:txBody>
          <a:bodyPr wrap="square" lIns="0" rIns="0" tIns="0" bIns="0">
            <a:spAutoFit/>
          </a:bodyPr>
          <a:lstStyle/>
          <a:p>
            <a:pPr>
              <a:defRPr sz="2800" b="1">
                <a:solidFill>
                  <a:srgbClr val="FFFFFF"/>
                </a:solidFill>
                <a:latin typeface="Arial"/>
              </a:defRPr>
            </a:pPr>
            <a:r>
              <a:t>Stage 2: Process &amp; Capabilities Isolation</a:t>
            </a:r>
          </a:p>
        </p:txBody>
      </p:sp>
      <p:sp>
        <p:nvSpPr>
          <p:cNvPr id="4" name="Rectangle 3"/>
          <p:cNvSpPr/>
          <p:nvPr/>
        </p:nvSpPr>
        <p:spPr>
          <a:xfrm>
            <a:off x="68580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VULNERABILITY ANALYSIS</a:t>
            </a:r>
          </a:p>
          <a:p>
            <a:pPr>
              <a:spcAft>
                <a:spcPts val="600"/>
              </a:spcAft>
              <a:defRPr sz="1300">
                <a:solidFill>
                  <a:srgbClr val="F1F5F9"/>
                </a:solidFill>
                <a:latin typeface="Arial"/>
              </a:defRPr>
            </a:pPr>
            <a:r>
              <a:t>• Linux capabilities partition superuser powers into distinct, assignable units.</a:t>
            </a:r>
          </a:p>
          <a:p>
            <a:pPr>
              <a:spcAft>
                <a:spcPts val="600"/>
              </a:spcAft>
              <a:defRPr sz="1300">
                <a:solidFill>
                  <a:srgbClr val="F1F5F9"/>
                </a:solidFill>
                <a:latin typeface="Arial"/>
              </a:defRPr>
            </a:pPr>
            <a:r>
              <a:t>• If a container is misconfigured with 'CAP_SYS_ADMIN', its processes gain massive control.</a:t>
            </a:r>
          </a:p>
          <a:p>
            <a:pPr>
              <a:spcAft>
                <a:spcPts val="600"/>
              </a:spcAft>
              <a:defRPr sz="1300">
                <a:solidFill>
                  <a:srgbClr val="F1F5F9"/>
                </a:solidFill>
                <a:latin typeface="Arial"/>
              </a:defRPr>
            </a:pPr>
            <a:r>
              <a:t>• This includes namespace management and raw storage device manipulation.</a:t>
            </a:r>
          </a:p>
        </p:txBody>
      </p:sp>
      <p:sp>
        <p:nvSpPr>
          <p:cNvPr id="6" name="Rectangle 5"/>
          <p:cNvSpPr/>
          <p:nvPr/>
        </p:nvSpPr>
        <p:spPr>
          <a:xfrm>
            <a:off x="621792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EXPLOITATION FLOW</a:t>
            </a:r>
          </a:p>
          <a:p>
            <a:pPr>
              <a:spcAft>
                <a:spcPts val="600"/>
              </a:spcAft>
              <a:defRPr sz="1300">
                <a:solidFill>
                  <a:srgbClr val="F1F5F9"/>
                </a:solidFill>
                <a:latin typeface="Arial"/>
              </a:defRPr>
            </a:pPr>
            <a:r>
              <a:t>• The newly elevated container root user queries active capabilities.</a:t>
            </a:r>
          </a:p>
          <a:p>
            <a:pPr>
              <a:spcAft>
                <a:spcPts val="600"/>
              </a:spcAft>
              <a:defRPr sz="1300">
                <a:solidFill>
                  <a:srgbClr val="F1F5F9"/>
                </a:solidFill>
                <a:latin typeface="Arial"/>
              </a:defRPr>
            </a:pPr>
            <a:r>
              <a:t>• Finding CAP_SYS_ADMIN active, the attacker bypasses process limits.</a:t>
            </a:r>
          </a:p>
          <a:p>
            <a:pPr>
              <a:spcAft>
                <a:spcPts val="600"/>
              </a:spcAft>
              <a:defRPr sz="1300">
                <a:solidFill>
                  <a:srgbClr val="F1F5F9"/>
                </a:solidFill>
                <a:latin typeface="Arial"/>
              </a:defRPr>
            </a:pPr>
            <a:r>
              <a:t>• This privilege forms the architectural beachhead needed to compromise external host interfaces.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365760"/>
            <a:ext cx="10817352" cy="274320"/>
          </a:xfrm>
          <a:prstGeom prst="rect">
            <a:avLst/>
          </a:prstGeom>
          <a:noFill/>
        </p:spPr>
        <p:txBody>
          <a:bodyPr wrap="square" lIns="0" rIns="0" tIns="0" bIns="0">
            <a:spAutoFit/>
          </a:bodyPr>
          <a:lstStyle/>
          <a:p>
            <a:pPr>
              <a:defRPr sz="950" b="1">
                <a:solidFill>
                  <a:srgbClr val="2563EB"/>
                </a:solidFill>
                <a:latin typeface="Arial"/>
              </a:defRPr>
            </a:pPr>
            <a:r>
              <a:t>HEXA FORCE CONTAINER SECURITY SERIES</a:t>
            </a:r>
          </a:p>
        </p:txBody>
      </p:sp>
      <p:sp>
        <p:nvSpPr>
          <p:cNvPr id="3" name="TextBox 2"/>
          <p:cNvSpPr txBox="1"/>
          <p:nvPr/>
        </p:nvSpPr>
        <p:spPr>
          <a:xfrm>
            <a:off x="685800" y="594360"/>
            <a:ext cx="10817352" cy="731520"/>
          </a:xfrm>
          <a:prstGeom prst="rect">
            <a:avLst/>
          </a:prstGeom>
          <a:noFill/>
        </p:spPr>
        <p:txBody>
          <a:bodyPr wrap="square" lIns="0" rIns="0" tIns="0" bIns="0">
            <a:spAutoFit/>
          </a:bodyPr>
          <a:lstStyle/>
          <a:p>
            <a:pPr>
              <a:defRPr sz="2800" b="1">
                <a:solidFill>
                  <a:srgbClr val="FFFFFF"/>
                </a:solidFill>
                <a:latin typeface="Arial"/>
              </a:defRPr>
            </a:pPr>
            <a:r>
              <a:t>Stage 3: Daemon &amp; API Security (docker.sock)</a:t>
            </a:r>
          </a:p>
        </p:txBody>
      </p:sp>
      <p:sp>
        <p:nvSpPr>
          <p:cNvPr id="4" name="Rectangle 3"/>
          <p:cNvSpPr/>
          <p:nvPr/>
        </p:nvSpPr>
        <p:spPr>
          <a:xfrm>
            <a:off x="68580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THREAT VECTOR: EXPOSED UNIX SOCKETS</a:t>
            </a:r>
          </a:p>
          <a:p>
            <a:pPr>
              <a:spcAft>
                <a:spcPts val="600"/>
              </a:spcAft>
              <a:defRPr sz="1300">
                <a:solidFill>
                  <a:srgbClr val="F1F5F9"/>
                </a:solidFill>
                <a:latin typeface="Arial"/>
              </a:defRPr>
            </a:pPr>
            <a:r>
              <a:t>• Continuous integration and monitoring agents often mount the host's Docker socket '/var/run/docker.sock' inside the container.</a:t>
            </a:r>
          </a:p>
          <a:p>
            <a:pPr>
              <a:spcAft>
                <a:spcPts val="600"/>
              </a:spcAft>
              <a:defRPr sz="1300">
                <a:solidFill>
                  <a:srgbClr val="F1F5F9"/>
                </a:solidFill>
                <a:latin typeface="Arial"/>
              </a:defRPr>
            </a:pPr>
            <a:r>
              <a:t>• This provides the container process with a direct control channel to the host's physical Docker daemon.</a:t>
            </a:r>
          </a:p>
        </p:txBody>
      </p:sp>
      <p:sp>
        <p:nvSpPr>
          <p:cNvPr id="6" name="Rectangle 5"/>
          <p:cNvSpPr/>
          <p:nvPr/>
        </p:nvSpPr>
        <p:spPr>
          <a:xfrm>
            <a:off x="621792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COMMAND EXECUTION</a:t>
            </a:r>
          </a:p>
          <a:p>
            <a:pPr>
              <a:spcAft>
                <a:spcPts val="600"/>
              </a:spcAft>
              <a:defRPr sz="1300">
                <a:solidFill>
                  <a:srgbClr val="F1F5F9"/>
                </a:solidFill>
                <a:latin typeface="Arial"/>
              </a:defRPr>
            </a:pPr>
            <a:r>
              <a:t>• Since the attacker is now root inside the container, they gain read/write permissions to the mounted socket.</a:t>
            </a:r>
          </a:p>
          <a:p>
            <a:pPr>
              <a:spcAft>
                <a:spcPts val="600"/>
              </a:spcAft>
              <a:defRPr sz="1300">
                <a:solidFill>
                  <a:srgbClr val="F1F5F9"/>
                </a:solidFill>
                <a:latin typeface="Arial"/>
              </a:defRPr>
            </a:pPr>
            <a:r>
              <a:t>• The attacker issues direct Docker API curl commands to the daemon.</a:t>
            </a:r>
          </a:p>
          <a:p>
            <a:pPr>
              <a:spcAft>
                <a:spcPts val="600"/>
              </a:spcAft>
              <a:defRPr sz="1300">
                <a:solidFill>
                  <a:srgbClr val="F1F5F9"/>
                </a:solidFill>
                <a:latin typeface="Arial"/>
              </a:defRPr>
            </a:pPr>
            <a:r>
              <a:t>• They command the host to pull external images and instantiate new containers.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365760"/>
            <a:ext cx="10817352" cy="274320"/>
          </a:xfrm>
          <a:prstGeom prst="rect">
            <a:avLst/>
          </a:prstGeom>
          <a:noFill/>
        </p:spPr>
        <p:txBody>
          <a:bodyPr wrap="square" lIns="0" rIns="0" tIns="0" bIns="0">
            <a:spAutoFit/>
          </a:bodyPr>
          <a:lstStyle/>
          <a:p>
            <a:pPr>
              <a:defRPr sz="950" b="1">
                <a:solidFill>
                  <a:srgbClr val="2563EB"/>
                </a:solidFill>
                <a:latin typeface="Arial"/>
              </a:defRPr>
            </a:pPr>
            <a:r>
              <a:t>HEXA FORCE CONTAINER SECURITY SERIES</a:t>
            </a:r>
          </a:p>
        </p:txBody>
      </p:sp>
      <p:sp>
        <p:nvSpPr>
          <p:cNvPr id="3" name="TextBox 2"/>
          <p:cNvSpPr txBox="1"/>
          <p:nvPr/>
        </p:nvSpPr>
        <p:spPr>
          <a:xfrm>
            <a:off x="685800" y="594360"/>
            <a:ext cx="10817352" cy="731520"/>
          </a:xfrm>
          <a:prstGeom prst="rect">
            <a:avLst/>
          </a:prstGeom>
          <a:noFill/>
        </p:spPr>
        <p:txBody>
          <a:bodyPr wrap="square" lIns="0" rIns="0" tIns="0" bIns="0">
            <a:spAutoFit/>
          </a:bodyPr>
          <a:lstStyle/>
          <a:p>
            <a:pPr>
              <a:defRPr sz="2800" b="1">
                <a:solidFill>
                  <a:srgbClr val="FFFFFF"/>
                </a:solidFill>
                <a:latin typeface="Arial"/>
              </a:defRPr>
            </a:pPr>
            <a:r>
              <a:t>Stage 4: Volume &amp; Filesystem Security</a:t>
            </a:r>
          </a:p>
        </p:txBody>
      </p:sp>
      <p:sp>
        <p:nvSpPr>
          <p:cNvPr id="4" name="Rectangle 3"/>
          <p:cNvSpPr/>
          <p:nvPr/>
        </p:nvSpPr>
        <p:spPr>
          <a:xfrm>
            <a:off x="68580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PHYSICAL BREAKOUT VECTOR</a:t>
            </a:r>
          </a:p>
          <a:p>
            <a:pPr>
              <a:spcAft>
                <a:spcPts val="600"/>
              </a:spcAft>
              <a:defRPr sz="1300">
                <a:solidFill>
                  <a:srgbClr val="F1F5F9"/>
                </a:solidFill>
                <a:latin typeface="Arial"/>
              </a:defRPr>
            </a:pPr>
            <a:r>
              <a:t>• Using the exposed Docker socket, the attacker spawns a new privileged container on the host.</a:t>
            </a:r>
          </a:p>
          <a:p>
            <a:pPr>
              <a:spcAft>
                <a:spcPts val="600"/>
              </a:spcAft>
              <a:defRPr sz="1300">
                <a:solidFill>
                  <a:srgbClr val="F1F5F9"/>
                </a:solidFill>
                <a:latin typeface="Arial"/>
              </a:defRPr>
            </a:pPr>
            <a:r>
              <a:t>• Configuration: The host's physical root filesystem ('/') is mounted directly to '/mnt/host' inside the container.</a:t>
            </a:r>
          </a:p>
          <a:p>
            <a:pPr>
              <a:spcAft>
                <a:spcPts val="600"/>
              </a:spcAft>
              <a:defRPr sz="1300">
                <a:solidFill>
                  <a:srgbClr val="F1F5F9"/>
                </a:solidFill>
                <a:latin typeface="Arial"/>
              </a:defRPr>
            </a:pPr>
            <a:r>
              <a:t>• The attacker now has write permissions to all physical host files.</a:t>
            </a:r>
          </a:p>
        </p:txBody>
      </p:sp>
      <p:sp>
        <p:nvSpPr>
          <p:cNvPr id="6" name="Rectangle 5"/>
          <p:cNvSpPr/>
          <p:nvPr/>
        </p:nvSpPr>
        <p:spPr>
          <a:xfrm>
            <a:off x="621792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HOST TAKEOVER &amp; PERSISTENCE</a:t>
            </a:r>
          </a:p>
          <a:p>
            <a:pPr>
              <a:spcAft>
                <a:spcPts val="600"/>
              </a:spcAft>
              <a:defRPr sz="1300">
                <a:solidFill>
                  <a:srgbClr val="F1F5F9"/>
                </a:solidFill>
                <a:latin typeface="Arial"/>
              </a:defRPr>
            </a:pPr>
            <a:r>
              <a:t>• The attacker navigates into '/mnt/host/etc/cron.d' and injects a custom cron job.</a:t>
            </a:r>
          </a:p>
          <a:p>
            <a:pPr>
              <a:spcAft>
                <a:spcPts val="600"/>
              </a:spcAft>
              <a:defRPr sz="1300">
                <a:solidFill>
                  <a:srgbClr val="F1F5F9"/>
                </a:solidFill>
                <a:latin typeface="Arial"/>
              </a:defRPr>
            </a:pPr>
            <a:r>
              <a:t>• The cron job triggers a root-privileged reverse shell back to the attack system.</a:t>
            </a:r>
          </a:p>
          <a:p>
            <a:pPr>
              <a:spcAft>
                <a:spcPts val="600"/>
              </a:spcAft>
              <a:defRPr sz="1300">
                <a:solidFill>
                  <a:srgbClr val="F1F5F9"/>
                </a:solidFill>
                <a:latin typeface="Arial"/>
              </a:defRPr>
            </a:pPr>
            <a:r>
              <a:t>• Physical host takeover is complete, establishing a persistent footprint on the node.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365760"/>
            <a:ext cx="10817352" cy="274320"/>
          </a:xfrm>
          <a:prstGeom prst="rect">
            <a:avLst/>
          </a:prstGeom>
          <a:noFill/>
        </p:spPr>
        <p:txBody>
          <a:bodyPr wrap="square" lIns="0" rIns="0" tIns="0" bIns="0">
            <a:spAutoFit/>
          </a:bodyPr>
          <a:lstStyle/>
          <a:p>
            <a:pPr>
              <a:defRPr sz="950" b="1">
                <a:solidFill>
                  <a:srgbClr val="2563EB"/>
                </a:solidFill>
                <a:latin typeface="Arial"/>
              </a:defRPr>
            </a:pPr>
            <a:r>
              <a:t>HEXA FORCE CONTAINER SECURITY SERIES</a:t>
            </a:r>
          </a:p>
        </p:txBody>
      </p:sp>
      <p:sp>
        <p:nvSpPr>
          <p:cNvPr id="3" name="TextBox 2"/>
          <p:cNvSpPr txBox="1"/>
          <p:nvPr/>
        </p:nvSpPr>
        <p:spPr>
          <a:xfrm>
            <a:off x="685800" y="594360"/>
            <a:ext cx="10817352" cy="731520"/>
          </a:xfrm>
          <a:prstGeom prst="rect">
            <a:avLst/>
          </a:prstGeom>
          <a:noFill/>
        </p:spPr>
        <p:txBody>
          <a:bodyPr wrap="square" lIns="0" rIns="0" tIns="0" bIns="0">
            <a:spAutoFit/>
          </a:bodyPr>
          <a:lstStyle/>
          <a:p>
            <a:pPr>
              <a:defRPr sz="2800" b="1">
                <a:solidFill>
                  <a:srgbClr val="FFFFFF"/>
                </a:solidFill>
                <a:latin typeface="Arial"/>
              </a:defRPr>
            </a:pPr>
            <a:r>
              <a:t>Cryptographic Image Signing (Cosign &amp; OIDC)</a:t>
            </a:r>
          </a:p>
        </p:txBody>
      </p:sp>
      <p:sp>
        <p:nvSpPr>
          <p:cNvPr id="4" name="Rectangle 3"/>
          <p:cNvSpPr/>
          <p:nvPr/>
        </p:nvSpPr>
        <p:spPr>
          <a:xfrm>
            <a:off x="68580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THE KEYLESS TRUST PARADIGM</a:t>
            </a:r>
          </a:p>
          <a:p>
            <a:pPr>
              <a:spcAft>
                <a:spcPts val="600"/>
              </a:spcAft>
              <a:defRPr sz="1300">
                <a:solidFill>
                  <a:srgbClr val="F1F5F9"/>
                </a:solidFill>
                <a:latin typeface="Arial"/>
              </a:defRPr>
            </a:pPr>
            <a:r>
              <a:t>• Traditional container signing depends on managing sensitive private keys in CI/CD environments. If leaked, the entire supply chain falls.</a:t>
            </a:r>
          </a:p>
          <a:p>
            <a:pPr>
              <a:spcAft>
                <a:spcPts val="600"/>
              </a:spcAft>
              <a:defRPr sz="1300">
                <a:solidFill>
                  <a:srgbClr val="F1F5F9"/>
                </a:solidFill>
                <a:latin typeface="Arial"/>
              </a:defRPr>
            </a:pPr>
            <a:r>
              <a:t>• Hexa Force implements modern keyless signing via Sigstore/Cosign, eliminating key storage.</a:t>
            </a:r>
          </a:p>
        </p:txBody>
      </p:sp>
      <p:sp>
        <p:nvSpPr>
          <p:cNvPr id="6" name="Rectangle 5"/>
          <p:cNvSpPr/>
          <p:nvPr/>
        </p:nvSpPr>
        <p:spPr>
          <a:xfrm>
            <a:off x="6217920" y="1645920"/>
            <a:ext cx="5120640" cy="43891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lIns="0" rIns="0" tIns="0" bIns="0">
            <a:spAutoFit/>
          </a:bodyPr>
          <a:lstStyle/>
          <a:p>
            <a:pPr>
              <a:spcAft>
                <a:spcPts val="1000"/>
              </a:spcAft>
              <a:defRPr sz="1300" b="1">
                <a:solidFill>
                  <a:srgbClr val="10B981"/>
                </a:solidFill>
                <a:latin typeface="Arial"/>
              </a:defRPr>
            </a:pPr>
            <a:r>
              <a:t>CRYPTOGRAPHIC ARCHITECTURE</a:t>
            </a:r>
          </a:p>
          <a:p>
            <a:pPr>
              <a:spcAft>
                <a:spcPts val="600"/>
              </a:spcAft>
              <a:defRPr sz="1300">
                <a:solidFill>
                  <a:srgbClr val="F1F5F9"/>
                </a:solidFill>
                <a:latin typeface="Arial"/>
              </a:defRPr>
            </a:pPr>
            <a:r>
              <a:t>• The runner requests a short-lived X.509 certificate from the Fulcio Certificate Authority.</a:t>
            </a:r>
          </a:p>
          <a:p>
            <a:pPr>
              <a:spcAft>
                <a:spcPts val="600"/>
              </a:spcAft>
              <a:defRPr sz="1300">
                <a:solidFill>
                  <a:srgbClr val="F1F5F9"/>
                </a:solidFill>
                <a:latin typeface="Arial"/>
              </a:defRPr>
            </a:pPr>
            <a:r>
              <a:t>• Authentication is federated using an OpenID Connect (OIDC) identity token issued by GitHub Actions.</a:t>
            </a:r>
          </a:p>
          <a:p>
            <a:pPr>
              <a:spcAft>
                <a:spcPts val="600"/>
              </a:spcAft>
              <a:defRPr sz="1300">
                <a:solidFill>
                  <a:srgbClr val="F1F5F9"/>
                </a:solidFill>
                <a:latin typeface="Arial"/>
              </a:defRPr>
            </a:pPr>
            <a:r>
              <a:t>• Signatures are logged in the immutable Rekor public transparency ledger.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365760"/>
            <a:ext cx="10817352" cy="274320"/>
          </a:xfrm>
          <a:prstGeom prst="rect">
            <a:avLst/>
          </a:prstGeom>
          <a:noFill/>
        </p:spPr>
        <p:txBody>
          <a:bodyPr wrap="square" lIns="0" rIns="0" tIns="0" bIns="0">
            <a:spAutoFit/>
          </a:bodyPr>
          <a:lstStyle/>
          <a:p>
            <a:pPr>
              <a:defRPr sz="950" b="1">
                <a:solidFill>
                  <a:srgbClr val="2563EB"/>
                </a:solidFill>
                <a:latin typeface="Arial"/>
              </a:defRPr>
            </a:pPr>
            <a:r>
              <a:t>HEXA FORCE CONTAINER SECURITY SERIES</a:t>
            </a:r>
          </a:p>
        </p:txBody>
      </p:sp>
      <p:sp>
        <p:nvSpPr>
          <p:cNvPr id="3" name="TextBox 2"/>
          <p:cNvSpPr txBox="1"/>
          <p:nvPr/>
        </p:nvSpPr>
        <p:spPr>
          <a:xfrm>
            <a:off x="685800" y="594360"/>
            <a:ext cx="10817352" cy="731520"/>
          </a:xfrm>
          <a:prstGeom prst="rect">
            <a:avLst/>
          </a:prstGeom>
          <a:noFill/>
        </p:spPr>
        <p:txBody>
          <a:bodyPr wrap="square" lIns="0" rIns="0" tIns="0" bIns="0">
            <a:spAutoFit/>
          </a:bodyPr>
          <a:lstStyle/>
          <a:p>
            <a:pPr>
              <a:defRPr sz="2800" b="1">
                <a:solidFill>
                  <a:srgbClr val="FFFFFF"/>
                </a:solidFill>
                <a:latin typeface="Arial"/>
              </a:defRPr>
            </a:pPr>
            <a:r>
              <a:t>Automated CI/CD Laboratory Pipeline</a:t>
            </a:r>
          </a:p>
        </p:txBody>
      </p:sp>
      <p:sp>
        <p:nvSpPr>
          <p:cNvPr id="4" name="Rectangle 3"/>
          <p:cNvSpPr/>
          <p:nvPr/>
        </p:nvSpPr>
        <p:spPr>
          <a:xfrm>
            <a:off x="68580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AUTOMATED DEVSECOPS WORKFLOW</a:t>
            </a:r>
          </a:p>
          <a:p>
            <a:pPr>
              <a:spcAft>
                <a:spcPts val="600"/>
              </a:spcAft>
              <a:defRPr sz="1300">
                <a:solidFill>
                  <a:srgbClr val="F1F5F9"/>
                </a:solidFill>
                <a:latin typeface="Arial"/>
              </a:defRPr>
            </a:pPr>
            <a:r>
              <a:t>• Source code push triggers the GitHub Actions workflow runner.</a:t>
            </a:r>
          </a:p>
          <a:p>
            <a:pPr>
              <a:spcAft>
                <a:spcPts val="600"/>
              </a:spcAft>
              <a:defRPr sz="1300">
                <a:solidFill>
                  <a:srgbClr val="F1F5F9"/>
                </a:solidFill>
                <a:latin typeface="Arial"/>
              </a:defRPr>
            </a:pPr>
            <a:r>
              <a:t>• Docker image compiled and tagged dynamically with lowercase parameter expansion.</a:t>
            </a:r>
          </a:p>
          <a:p>
            <a:pPr>
              <a:spcAft>
                <a:spcPts val="600"/>
              </a:spcAft>
              <a:defRPr sz="1300">
                <a:solidFill>
                  <a:srgbClr val="F1F5F9"/>
                </a:solidFill>
                <a:latin typeface="Arial"/>
              </a:defRPr>
            </a:pPr>
            <a:r>
              <a:t>• Image pushed securely to the GitHub Container Registry (GHCR).</a:t>
            </a:r>
          </a:p>
        </p:txBody>
      </p:sp>
      <p:sp>
        <p:nvSpPr>
          <p:cNvPr id="6" name="Rectangle 5"/>
          <p:cNvSpPr/>
          <p:nvPr/>
        </p:nvSpPr>
        <p:spPr>
          <a:xfrm>
            <a:off x="621792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AUTOMATED VERIFICATION GATES</a:t>
            </a:r>
          </a:p>
          <a:p>
            <a:pPr>
              <a:spcAft>
                <a:spcPts val="600"/>
              </a:spcAft>
              <a:defRPr sz="1300">
                <a:solidFill>
                  <a:srgbClr val="F1F5F9"/>
                </a:solidFill>
                <a:latin typeface="Arial"/>
              </a:defRPr>
            </a:pPr>
            <a:r>
              <a:t>• Immediate execution of Cosign keyless signing using the runner's OIDC identity.</a:t>
            </a:r>
          </a:p>
          <a:p>
            <a:pPr>
              <a:spcAft>
                <a:spcPts val="600"/>
              </a:spcAft>
              <a:defRPr sz="1300">
                <a:solidFill>
                  <a:srgbClr val="F1F5F9"/>
                </a:solidFill>
                <a:latin typeface="Arial"/>
              </a:defRPr>
            </a:pPr>
            <a:r>
              <a:t>• High-performance validation gates verify signatures during cluster deployment.</a:t>
            </a:r>
          </a:p>
          <a:p>
            <a:pPr>
              <a:spcAft>
                <a:spcPts val="600"/>
              </a:spcAft>
              <a:defRPr sz="1300">
                <a:solidFill>
                  <a:srgbClr val="F1F5F9"/>
                </a:solidFill>
                <a:latin typeface="Arial"/>
              </a:defRPr>
            </a:pPr>
            <a:r>
              <a:t>• Result: Completely blocks unsigned or unverified images from executing in production.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365760"/>
            <a:ext cx="10817352" cy="274320"/>
          </a:xfrm>
          <a:prstGeom prst="rect">
            <a:avLst/>
          </a:prstGeom>
          <a:noFill/>
        </p:spPr>
        <p:txBody>
          <a:bodyPr wrap="square" lIns="0" rIns="0" tIns="0" bIns="0">
            <a:spAutoFit/>
          </a:bodyPr>
          <a:lstStyle/>
          <a:p>
            <a:pPr>
              <a:defRPr sz="950" b="1">
                <a:solidFill>
                  <a:srgbClr val="2563EB"/>
                </a:solidFill>
                <a:latin typeface="Arial"/>
              </a:defRPr>
            </a:pPr>
            <a:r>
              <a:t>HEXA FORCE CONTAINER SECURITY SERIES</a:t>
            </a:r>
          </a:p>
        </p:txBody>
      </p:sp>
      <p:sp>
        <p:nvSpPr>
          <p:cNvPr id="3" name="TextBox 2"/>
          <p:cNvSpPr txBox="1"/>
          <p:nvPr/>
        </p:nvSpPr>
        <p:spPr>
          <a:xfrm>
            <a:off x="685800" y="594360"/>
            <a:ext cx="10817352" cy="731520"/>
          </a:xfrm>
          <a:prstGeom prst="rect">
            <a:avLst/>
          </a:prstGeom>
          <a:noFill/>
        </p:spPr>
        <p:txBody>
          <a:bodyPr wrap="square" lIns="0" rIns="0" tIns="0" bIns="0">
            <a:spAutoFit/>
          </a:bodyPr>
          <a:lstStyle/>
          <a:p>
            <a:pPr>
              <a:defRPr sz="2800" b="1">
                <a:solidFill>
                  <a:srgbClr val="FFFFFF"/>
                </a:solidFill>
                <a:latin typeface="Arial"/>
              </a:defRPr>
            </a:pPr>
            <a:r>
              <a:t>DevSecOps Hardening &amp; Defense-in-Depth</a:t>
            </a:r>
          </a:p>
        </p:txBody>
      </p:sp>
      <p:sp>
        <p:nvSpPr>
          <p:cNvPr id="4" name="Rectangle 3"/>
          <p:cNvSpPr/>
          <p:nvPr/>
        </p:nvSpPr>
        <p:spPr>
          <a:xfrm>
            <a:off x="68580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RUNTIME DEFENSES</a:t>
            </a:r>
          </a:p>
          <a:p>
            <a:pPr>
              <a:spcAft>
                <a:spcPts val="600"/>
              </a:spcAft>
              <a:defRPr sz="1300">
                <a:solidFill>
                  <a:srgbClr val="F1F5F9"/>
                </a:solidFill>
                <a:latin typeface="Arial"/>
              </a:defRPr>
            </a:pPr>
            <a:r>
              <a:t>• Drop excessive Linux capabilities: drop CAP_SYS_ADMIN and run with '--cap-drop=ALL' by default.</a:t>
            </a:r>
          </a:p>
          <a:p>
            <a:pPr>
              <a:spcAft>
                <a:spcPts val="600"/>
              </a:spcAft>
              <a:defRPr sz="1300">
                <a:solidFill>
                  <a:srgbClr val="F1F5F9"/>
                </a:solidFill>
                <a:latin typeface="Arial"/>
              </a:defRPr>
            </a:pPr>
            <a:r>
              <a:t>• Set read-only filesystems: run containers with '--read-only' to block exploit downloads and compilations.</a:t>
            </a:r>
          </a:p>
          <a:p>
            <a:pPr>
              <a:spcAft>
                <a:spcPts val="600"/>
              </a:spcAft>
              <a:defRPr sz="1300">
                <a:solidFill>
                  <a:srgbClr val="F1F5F9"/>
                </a:solidFill>
                <a:latin typeface="Arial"/>
              </a:defRPr>
            </a:pPr>
            <a:r>
              <a:t>• Non-root execution: enforce 'USER victim' or non-root UID policies.</a:t>
            </a:r>
          </a:p>
        </p:txBody>
      </p:sp>
      <p:sp>
        <p:nvSpPr>
          <p:cNvPr id="6" name="Rectangle 5"/>
          <p:cNvSpPr/>
          <p:nvPr/>
        </p:nvSpPr>
        <p:spPr>
          <a:xfrm>
            <a:off x="6217920" y="1645920"/>
            <a:ext cx="5120640" cy="43891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lIns="0" rIns="0" tIns="0" bIns="0">
            <a:spAutoFit/>
          </a:bodyPr>
          <a:lstStyle/>
          <a:p>
            <a:pPr>
              <a:spcAft>
                <a:spcPts val="1000"/>
              </a:spcAft>
              <a:defRPr sz="1300" b="1">
                <a:solidFill>
                  <a:srgbClr val="10B981"/>
                </a:solidFill>
                <a:latin typeface="Arial"/>
              </a:defRPr>
            </a:pPr>
            <a:r>
              <a:t>HOST &amp; INFRASTRUCTURE DEFENSES</a:t>
            </a:r>
          </a:p>
          <a:p>
            <a:pPr>
              <a:spcAft>
                <a:spcPts val="600"/>
              </a:spcAft>
              <a:defRPr sz="1300">
                <a:solidFill>
                  <a:srgbClr val="F1F5F9"/>
                </a:solidFill>
                <a:latin typeface="Arial"/>
              </a:defRPr>
            </a:pPr>
            <a:r>
              <a:t>• Host Kernel Patching: Strictly enforce regular patching schedules for CVE-2016-5195 and other kernel exploits.</a:t>
            </a:r>
          </a:p>
          <a:p>
            <a:pPr>
              <a:spcAft>
                <a:spcPts val="600"/>
              </a:spcAft>
              <a:defRPr sz="1300">
                <a:solidFill>
                  <a:srgbClr val="F1F5F9"/>
                </a:solidFill>
                <a:latin typeface="Arial"/>
              </a:defRPr>
            </a:pPr>
            <a:r>
              <a:t>• Socket Restrictions: Completely block mounting '/var/run/docker.sock' in application containers.</a:t>
            </a:r>
          </a:p>
          <a:p>
            <a:pPr>
              <a:spcAft>
                <a:spcPts val="600"/>
              </a:spcAft>
              <a:defRPr sz="1300">
                <a:solidFill>
                  <a:srgbClr val="F1F5F9"/>
                </a:solidFill>
                <a:latin typeface="Arial"/>
              </a:defRPr>
            </a:pPr>
            <a:r>
              <a:t>• LSM Sandboxing: Deploy AppArmor or SELinux profiles.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365760"/>
            <a:ext cx="10817352" cy="274320"/>
          </a:xfrm>
          <a:prstGeom prst="rect">
            <a:avLst/>
          </a:prstGeom>
          <a:noFill/>
        </p:spPr>
        <p:txBody>
          <a:bodyPr wrap="square" lIns="0" rIns="0" tIns="0" bIns="0">
            <a:spAutoFit/>
          </a:bodyPr>
          <a:lstStyle/>
          <a:p>
            <a:pPr>
              <a:defRPr sz="950" b="1">
                <a:solidFill>
                  <a:srgbClr val="2563EB"/>
                </a:solidFill>
                <a:latin typeface="Arial"/>
              </a:defRPr>
            </a:pPr>
            <a:r>
              <a:t>HEXA FORCE CONTAINER SECURITY SERIES</a:t>
            </a:r>
          </a:p>
        </p:txBody>
      </p:sp>
      <p:sp>
        <p:nvSpPr>
          <p:cNvPr id="3" name="TextBox 2"/>
          <p:cNvSpPr txBox="1"/>
          <p:nvPr/>
        </p:nvSpPr>
        <p:spPr>
          <a:xfrm>
            <a:off x="685800" y="594360"/>
            <a:ext cx="10817352" cy="731520"/>
          </a:xfrm>
          <a:prstGeom prst="rect">
            <a:avLst/>
          </a:prstGeom>
          <a:noFill/>
        </p:spPr>
        <p:txBody>
          <a:bodyPr wrap="square" lIns="0" rIns="0" tIns="0" bIns="0">
            <a:spAutoFit/>
          </a:bodyPr>
          <a:lstStyle/>
          <a:p>
            <a:pPr>
              <a:defRPr sz="2800" b="1">
                <a:solidFill>
                  <a:srgbClr val="FFFFFF"/>
                </a:solidFill>
                <a:latin typeface="Arial"/>
              </a:defRPr>
            </a:pPr>
            <a:r>
              <a:t>Conclusion: Hexa Force Lab Debriefing</a:t>
            </a:r>
          </a:p>
        </p:txBody>
      </p:sp>
      <p:sp>
        <p:nvSpPr>
          <p:cNvPr id="4" name="Rectangle 3"/>
          <p:cNvSpPr/>
          <p:nvPr/>
        </p:nvSpPr>
        <p:spPr>
          <a:xfrm>
            <a:off x="68580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SUMMARY OF SUCCESS</a:t>
            </a:r>
          </a:p>
          <a:p>
            <a:pPr>
              <a:spcAft>
                <a:spcPts val="600"/>
              </a:spcAft>
              <a:defRPr sz="1300">
                <a:solidFill>
                  <a:srgbClr val="F1F5F9"/>
                </a:solidFill>
                <a:latin typeface="Arial"/>
              </a:defRPr>
            </a:pPr>
            <a:r>
              <a:t>• Exploit chain fully mapped: demonstrated how minor misconfigurations interact with kernel vulnerabilities to allow host escape.</a:t>
            </a:r>
          </a:p>
          <a:p>
            <a:pPr>
              <a:spcAft>
                <a:spcPts val="600"/>
              </a:spcAft>
              <a:defRPr sz="1300">
                <a:solidFill>
                  <a:srgbClr val="F1F5F9"/>
                </a:solidFill>
                <a:latin typeface="Arial"/>
              </a:defRPr>
            </a:pPr>
            <a:r>
              <a:t>• Supply Chain Secured: implemented modern keyless signing to guarantee deployment provenance.</a:t>
            </a:r>
          </a:p>
        </p:txBody>
      </p:sp>
      <p:sp>
        <p:nvSpPr>
          <p:cNvPr id="6" name="Rectangle 5"/>
          <p:cNvSpPr/>
          <p:nvPr/>
        </p:nvSpPr>
        <p:spPr>
          <a:xfrm>
            <a:off x="6217920" y="164592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lIns="0" rIns="0" tIns="0" bIns="0">
            <a:spAutoFit/>
          </a:bodyPr>
          <a:lstStyle/>
          <a:p>
            <a:pPr>
              <a:spcAft>
                <a:spcPts val="1000"/>
              </a:spcAft>
              <a:defRPr sz="1300" b="1">
                <a:solidFill>
                  <a:srgbClr val="2563EB"/>
                </a:solidFill>
                <a:latin typeface="Arial"/>
              </a:defRPr>
            </a:pPr>
            <a:r>
              <a:t>STRATEGIC MISSION</a:t>
            </a:r>
          </a:p>
          <a:p>
            <a:pPr>
              <a:spcAft>
                <a:spcPts val="600"/>
              </a:spcAft>
              <a:defRPr sz="1300">
                <a:solidFill>
                  <a:srgbClr val="F1F5F9"/>
                </a:solidFill>
                <a:latin typeface="Arial"/>
              </a:defRPr>
            </a:pPr>
            <a:r>
              <a:t>• Security as an Enabler: integrating cryptographic signing directly into CI/CD ensures automation without slowing delivery.</a:t>
            </a:r>
          </a:p>
          <a:p>
            <a:pPr>
              <a:spcAft>
                <a:spcPts val="600"/>
              </a:spcAft>
              <a:defRPr sz="1300">
                <a:solidFill>
                  <a:srgbClr val="F1F5F9"/>
                </a:solidFill>
                <a:latin typeface="Arial"/>
              </a:defRPr>
            </a:pPr>
            <a:r>
              <a:t>• Continuous Hardening: container virtualization is not a security boundary; defense must be applied continuously across the pipeline.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