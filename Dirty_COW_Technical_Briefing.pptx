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"Welcome to Part 2 of our briefing: The Dirty COW Technical Deep Dive. In this session, we will demystify the precise mechanisms behind CVE-2016-5195, commonly known as Dirty COW. This kernel exploit bypassed decades of security policies in Linux systems by weaponizing a race condition inside the virtual memory management subsystem. We will explore how memory pages are mapped, how Copy-on-Write page cache mechanisms work, and how we can force the kernel to write user data directly to read-only root files. Let us dive into the exploit's background."</a:t>
            </a:r>
          </a:p>
          <a:p/>
          <a:p>
            <a:r>
              <a:t>=== CRITICAL TALKING POINTS ===</a:t>
            </a:r>
          </a:p>
          <a:p>
            <a:r>
              <a:t>• Introduce the briefing as a deep, academically rigorous analysis of a legendary kernel vulnerability.</a:t>
            </a:r>
          </a:p>
          <a:p>
            <a:r>
              <a:t>• Frame the presentation around core operating system structures: virtual memory, page fault handlers, and thread scheduling.</a:t>
            </a:r>
          </a:p>
          <a:p>
            <a:r>
              <a:t>• Clearly declare the scope: it covers the CVE profile, exploitation theory, code walkthrough, and kernel patch analysis.</a:t>
            </a:r>
          </a:p>
          <a:p/>
          <a:p>
            <a:r>
              <a:t>=== ANTICIPATED EVALUATOR Q&amp;A ===</a:t>
            </a:r>
          </a:p>
          <a:p>
            <a:r>
              <a:t>Question: Why is it called "Dirty COW"?</a:t>
            </a:r>
          </a:p>
          <a:p>
            <a:r>
              <a:t>Answer: "COW" refers to the "Copy-on-Write" mechanism. "Dirty" refers to marking a page in physical memory as modified in the page tables, indicating that its changes must be written back to the disk.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"The briefing today is structured to provide both foundational theory and a hands-on lab demonstration. We will start with memory management basics, move through the COW design and vulnerability analysis, perform a deep code review of dirtyc0w.c, showcase our hands-on Docker laboratory environment, analyze the real-world impact, and outline concrete remediation strategies."</a:t>
            </a:r>
          </a:p>
          <a:p/>
          <a:p>
            <a:r>
              <a:t>=== CRITICAL TALKING POINTS ===</a:t>
            </a:r>
          </a:p>
          <a:p>
            <a:r>
              <a:t>• Lay out the technical roadmap for the deep dive to establish structured, expert-level delivery.</a:t>
            </a:r>
          </a:p>
          <a:p>
            <a:r>
              <a:t>• Note that the briefing bridges theory (operating system architecture) with practice (compiled exploits in containers).</a:t>
            </a:r>
          </a:p>
          <a:p>
            <a:r>
              <a:t>• Emphasize that understanding the vulnerability code is key to understanding modern mitigation strategies.</a:t>
            </a:r>
          </a:p>
          <a:p/>
          <a:p>
            <a:r>
              <a:t>=== ANTICIPATED EVALUATOR Q&amp;A ===</a:t>
            </a:r>
          </a:p>
          <a:p>
            <a:r>
              <a:t>Question: Why is a deep dive on a 2016 vulnerability still highly valuable today?</a:t>
            </a:r>
          </a:p>
          <a:p>
            <a:r>
              <a:t>Answer: Dirty COW is the canonical textbook example of a virtual memory race condition exploit. By understanding it, security engineers gain deep insights into how kernel memory mapping works and why container environments (which share the host kernel) are highly vulnerable to shared resource exploits.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"To contextualize this threat, let's examine the profile of CVE-2016-5195. Discovered in 2016, this vulnerability carries a High CVSS score. It affected almost every Linux kernel version prior to October 2016. The beauty—and danger—of Dirty COW is that it requires absolutely no special system privileges to execute. Any local user, even an unprivileged process running inside a Docker container, can trigger this exploit to bypass file permissions and write root-owned configurations. Let us look at the memory architecture that made this possible."</a:t>
            </a:r>
          </a:p>
          <a:p/>
          <a:p>
            <a:r>
              <a:t>=== CRITICAL TALKING POINTS ===</a:t>
            </a:r>
          </a:p>
          <a:p>
            <a:r>
              <a:t>• Cite precise vulnerability metadata: CVE-2016-5195, High severity CVSS rating, and pre-2016 kernel versions.</a:t>
            </a:r>
          </a:p>
          <a:p>
            <a:r>
              <a:t>• Highlight that this is a local privilege escalation (LPE) vector, requiring zero administrative starting permissions.</a:t>
            </a:r>
          </a:p>
          <a:p>
            <a:r>
              <a:t>• Set up the core threat: it completely compromises local system file integrity.</a:t>
            </a:r>
          </a:p>
          <a:p/>
          <a:p>
            <a:r>
              <a:t>=== ANTICIPATED EVALUATOR Q&amp;A ===</a:t>
            </a:r>
          </a:p>
          <a:p>
            <a:r>
              <a:t>Question: Can Dirty COW be executed over the network without local access?</a:t>
            </a:r>
          </a:p>
          <a:p>
            <a:r>
              <a:t>Answer: No, it is strictly a Local Privilege Escalation (LPE) vulnerability. The attacker must already have local shell access or code execution capabilities on the system to compile and run the exploit binary.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"Let's review Linux virtual memory management. The operating system uses virtual memory addresses to isolate processes from each other and from physical hardware. Physical RAM is divided into fixed-size units called page frames, while virtual memory is managed in pages. The CPU's Memory Management Unit (MMU) and page tables translate virtual addresses to physical RAM addresses. Processes map files into their virtual memory using mmap, which allows reading or writing file data directly through RAM operations."</a:t>
            </a:r>
          </a:p>
          <a:p/>
          <a:p>
            <a:r>
              <a:t>=== CRITICAL TALKING POINTS ===</a:t>
            </a:r>
          </a:p>
          <a:p>
            <a:r>
              <a:t>• Explain the role of the MMU (Memory Management Unit) in performing address translations.</a:t>
            </a:r>
          </a:p>
          <a:p>
            <a:r>
              <a:t>• Define key terms: page frames (physical RAM), pages (virtual addresses), and page table entries.</a:t>
            </a:r>
          </a:p>
          <a:p>
            <a:r>
              <a:t>• Establish how `mmap` optimizes file reading by loading disk data directly into memory maps.</a:t>
            </a:r>
          </a:p>
          <a:p/>
          <a:p>
            <a:r>
              <a:t>=== ANTICIPATED EVALUATOR Q&amp;A ===</a:t>
            </a:r>
          </a:p>
          <a:p>
            <a:r>
              <a:t>Question: What role does the MMU play in memory protection?</a:t>
            </a:r>
          </a:p>
          <a:p>
            <a:r>
              <a:t>Answer: The MMU translates addresses and enforces page-level access permissions (e.g. read-only, read-write, executable) defined in the page table entries, throwing a segmentation fault if an unauthorized write is attempted.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"Copy-on-Write is a crucial memory optimization. When a process maps a file privately using the MAP_PRIVATE flag, the kernel does not create a duplicate copy of the file in RAM. Instead, it maps the process's virtual memory to the same physical page cache frame as the underlying file to save memory. When the process attempts to write to this page, the kernel detects the write, allocates a new physical page frame, copies the original page content, updates the process's page table to point to this new private copy, and executes the write. This is the Copy-on-Write process."</a:t>
            </a:r>
          </a:p>
          <a:p/>
          <a:p>
            <a:r>
              <a:t>=== CRITICAL TALKING POINTS ===</a:t>
            </a:r>
          </a:p>
          <a:p>
            <a:r>
              <a:t>• Explain Copy-on-Write (COW) as an elegant RAM optimization technique used universally in modern operating systems.</a:t>
            </a:r>
          </a:p>
          <a:p>
            <a:r>
              <a:t>• Define `MAP_PRIVATE`: it guarantees that write modifications are made to a private memory space, never touching the underlying file.</a:t>
            </a:r>
          </a:p>
          <a:p>
            <a:r>
              <a:t>• Describe the transition from shared physical pages to private copy allocation during a write operation.</a:t>
            </a:r>
          </a:p>
          <a:p/>
          <a:p>
            <a:r>
              <a:t>=== ANTICIPATED EVALUATOR Q&amp;A ===</a:t>
            </a:r>
          </a:p>
          <a:p>
            <a:r>
              <a:t>Question: How does MAP_PRIVATE protect the original backing file?</a:t>
            </a:r>
          </a:p>
          <a:p>
            <a:r>
              <a:t>Answer: MAP_PRIVATE guarantees that all write operations are executed against a private local copy allocated in physical RAM, ensuring that the original backing file on disk is never modified.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"The core vulnerability is a non-atomic operation in the page fault handler. When a process writes to a private read-only page, the kernel follows a multi-step routine: (1) Find the physical page, (2) Verify write permissions (which fails, triggering a page fault), (3) Perform the Copy-on-Write allocation, and (4) Update page table entries. Because this process is not atomic, the kernel must yield or check permissions at multiple boundaries. If page table entries are cleared concurrently during these checks, the kernel gets confused, allowing a concurrent write to write directly to the original read-only page before the COW is completed."</a:t>
            </a:r>
          </a:p>
          <a:p/>
          <a:p>
            <a:r>
              <a:t>=== CRITICAL TALKING POINTS ===</a:t>
            </a:r>
          </a:p>
          <a:p>
            <a:r>
              <a:t>• Define "non-atomic": a sequence of operations that can be interrupted or preempted by other CPU instructions.</a:t>
            </a:r>
          </a:p>
          <a:p>
            <a:r>
              <a:t>• Describe the precise moment the vulnerability occurs: the gap between checking the write permission and updating the page table entry.</a:t>
            </a:r>
          </a:p>
          <a:p>
            <a:r>
              <a:t>• Explain how concurrent threads can corrupt this gap, causing the kernel to fall back to writing to the read-only backing page.</a:t>
            </a:r>
          </a:p>
          <a:p/>
          <a:p>
            <a:r>
              <a:t>=== ANTICIPATED EVALUATOR Q&amp;A ===</a:t>
            </a:r>
          </a:p>
          <a:p>
            <a:r>
              <a:t>Question: What does non-atomic mean in this context?</a:t>
            </a:r>
          </a:p>
          <a:p>
            <a:r>
              <a:t>Answer: It means the operation is broken into multiple individual CPU instructions. In a multi-threaded system, other threads can execute instructions in between these steps, altering the memory state before the operation is completed.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"The exploit utilizes two key system calls: (1) mmap with the MAP_PRIVATE flag to map the target read-only file into virtual memory, and (2) madvise with the MADV_DONTNEED flag. The madvise system call tells the kernel that the process no longer needs the specified memory range. The kernel responds by discarding the physical page mappings, forcing the next read to load the data directly from the original backing file. Additionally, the exploit writes directly to `/proc/self/mem` to bypass standard MMU write restrictions."</a:t>
            </a:r>
          </a:p>
          <a:p/>
          <a:p>
            <a:r>
              <a:t>=== CRITICAL TALKING POINTS ===</a:t>
            </a:r>
          </a:p>
          <a:p>
            <a:r>
              <a:t>• Detail the roles of `mmap(MAP_PRIVATE)` and `madvise(MADV_DONTNEED)`.</a:t>
            </a:r>
          </a:p>
          <a:p>
            <a:r>
              <a:t>• Explain that `MADV_DONTNEED` forces the kernel to instantly invalidate the physical page tables mapping.</a:t>
            </a:r>
          </a:p>
          <a:p>
            <a:r>
              <a:t>• Introduce `/proc/self/mem` as the direct virtual process memory interface used to trigger the kernel-level write routing.</a:t>
            </a:r>
          </a:p>
          <a:p/>
          <a:p>
            <a:r>
              <a:t>=== ANTICIPATED EVALUATOR Q&amp;A ===</a:t>
            </a:r>
          </a:p>
          <a:p>
            <a:r>
              <a:t>Question: Why is writing to `/proc/self/mem` used instead of direct pointer dereferencing?</a:t>
            </a:r>
          </a:p>
          <a:p>
            <a:r>
              <a:t>Answer: Direct pointer writes are blocked by the CPU's MMU immediately, raising a segmentation fault. Writing through the `/proc/self/mem` interface routes the write through the kernel's virtual memory system, forcing the kernel itself to handle the write and execute the vulnerable page fault routine.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"The exploit sequence runs two concurrent threads. Thread A runs in a tight loop calling `madvise(MADV_DONTNEED)` on our mapped memory address, repeatedly throwing away any newly allocated COW pages. Thread B runs in a parallel loop writing our payload to `/proc/self/mem` at the same virtual address. As they execute millions of times per second across CPU cores, a race condition occurs. The kernel completes the write permission check but gets preempted by madvise discarding the page. The write then executes directly against the original, read-only physical backing page, overwriting the file on disk."</a:t>
            </a:r>
          </a:p>
          <a:p/>
          <a:p>
            <a:r>
              <a:t>=== CRITICAL TALKING POINTS ===</a:t>
            </a:r>
          </a:p>
          <a:p>
            <a:r>
              <a:t>• Detail the concurrent execution flow: Thread A (`madvise`) and Thread B (`/proc/self/mem` write) racing at high speed.</a:t>
            </a:r>
          </a:p>
          <a:p>
            <a:r>
              <a:t>• Explain the physical collision: the write is directed to the read-only backing cache instead of the private copy.</a:t>
            </a:r>
          </a:p>
          <a:p>
            <a:r>
              <a:t>• Emphasize that the exploit requires multiple iterations in a loop to guarantee hitting the microsecond race window.</a:t>
            </a:r>
          </a:p>
          <a:p/>
          <a:p>
            <a:r>
              <a:t>=== ANTICIPATED EVALUATOR Q&amp;A ===</a:t>
            </a:r>
          </a:p>
          <a:p>
            <a:r>
              <a:t>Question: How many CPU cores are required to exploit the race condition?</a:t>
            </a:r>
          </a:p>
          <a:p>
            <a:r>
              <a:t>Answer: While it is theoretically possible on a single core via context switching, it is highly efficient on multi-core systems where Thread A and Thread B can run simultaneously on separate physical cores, maximizing the probability of racing the kernel's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"Dirty COW is particularly catastrophic in Docker container environments. Because Docker containers share the host's Linux kernel, any container—even one running as a low-privileged user—can run `dirtyc0w` to exploit the shared kernel. The exploit can bypass container isolation barriers entirely. An attacker inside a container can overwrite a read-only system file on the host's kernel or overwrite physical files shared between containers, collapsing the foundational promise of container isolation."</a:t>
            </a:r>
          </a:p>
          <a:p/>
          <a:p>
            <a:r>
              <a:t>=== CRITICAL TALKING POINTS ===</a:t>
            </a:r>
          </a:p>
          <a:p>
            <a:r>
              <a:t>• Explain why shared kernels represent the central security vulnerability of containerization.</a:t>
            </a:r>
          </a:p>
          <a:p>
            <a:r>
              <a:t>• Discuss the collapse of container isolation boundaries when a container process can overwrite host-level system files.</a:t>
            </a:r>
          </a:p>
          <a:p>
            <a:r>
              <a:t>• Reiterate that namespaces and cgroups do not prevent physical page cache corruption because both container and host share the same kernel cache.</a:t>
            </a:r>
          </a:p>
          <a:p/>
          <a:p>
            <a:r>
              <a:t>=== ANTICIPATED EVALUATOR Q&amp;A ===</a:t>
            </a:r>
          </a:p>
          <a:p>
            <a:r>
              <a:t>Question: How does Dirty COW bypass Docker's read-only file mappings?</a:t>
            </a:r>
          </a:p>
          <a:p>
            <a:r>
              <a:t>Answer: Docker's read-only mappings are enforced at the mount and namespace levels. However, because the exploit operates at the shared kernel virtual memory page level, it writes directly to the shared physical page cache. The kernel executes the physical write, rendering namespace and mount restrictions completely ineffective.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"Let's trace the threat pathway from privilege escalation to complete container escape. First, the attacker exploits an application vulnerability to gain a shell as a low-privileged container user. Second, they run Dirty COW to overwrite a root-owned file (like `/etc/passwd` or `/var/secret/target.txt`), gaining root privileges inside the container. Third, they leverage container root to access administrative capabilities or mounts (like the exposed `/var/run/docker.sock`), allowing them to launch new privileged containers, mount the physical host filesystem, and achieve complete host escape."</a:t>
            </a:r>
          </a:p>
          <a:p/>
          <a:p>
            <a:r>
              <a:t>=== CRITICAL TALKING POINTS ===</a:t>
            </a:r>
          </a:p>
          <a:p>
            <a:r>
              <a:t>• Illustrate the escalate-and-escape pathway step-by-step.</a:t>
            </a:r>
          </a:p>
          <a:p>
            <a:r>
              <a:t>• Connect Dirty COW (privilege escalation) with local boundary breakages (capabilities and exposed sockets).</a:t>
            </a:r>
          </a:p>
          <a:p>
            <a:r>
              <a:t>• Emphasize that a container compromise almost always leads to a host compromise if runtime capabilities are left unchecked.</a:t>
            </a:r>
          </a:p>
          <a:p/>
          <a:p>
            <a:r>
              <a:t>=== ANTICIPATED EVALUATOR Q&amp;A ===</a:t>
            </a:r>
          </a:p>
          <a:p>
            <a:r>
              <a:t>Question: Is container escape possible without local privilege escalation?</a:t>
            </a:r>
          </a:p>
          <a:p>
            <a:r>
              <a:t>Answer: Yes, if the container is already run with high privileges (like '--privileged' or mounting the host filesystem directly). However, if the container is properly locked down, privilege escalation (like Dirty COW) is the necessary first step to unlock the administrative APIs required for escape.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"Our C implementation `dirtyc0w.c` is elegant and compact. We open the target file, retrieve its size, and map it read-only but privately using `mmap`. We then spin up two parallel threads using `pthread_create`. Thread 1 runs `madviseThread` calling `madvise(map, 100, MADV_DONTNEED)` in a loop of 100,000 iterations. Thread 2 runs `procSelfMemThread` opening `/proc/self/mem`, seeking to the mapped address, and writing the payload in a loop of 100,000 iterations. The parallel execution guarantees that the race condition will be triggered within seconds."</a:t>
            </a:r>
          </a:p>
          <a:p/>
          <a:p>
            <a:r>
              <a:t>=== CRITICAL TALKING POINTS ===</a:t>
            </a:r>
          </a:p>
          <a:p>
            <a:r>
              <a:t>• Walk through the core functions of `dirtyc0w.c`: `mmap`, `pthread_create`, `madviseThread`, and `procSelfMemThread`.</a:t>
            </a:r>
          </a:p>
          <a:p>
            <a:r>
              <a:t>• Explain the seek operation `lseek(f, (uintptr_t)map, SEEK_SET)` as the mapping pointer address offset aligner.</a:t>
            </a:r>
          </a:p>
          <a:p>
            <a:r>
              <a:t>• Detail the iteration scale (100,000 runs) that ensures the thread collision occurs quickly.</a:t>
            </a:r>
          </a:p>
          <a:p/>
          <a:p>
            <a:r>
              <a:t>=== ANTICIPATED EVALUATOR Q&amp;A ===</a:t>
            </a:r>
          </a:p>
          <a:p>
            <a:r>
              <a:t>Question: What happens to the target file if its size is smaller than the payload?</a:t>
            </a:r>
          </a:p>
          <a:p>
            <a:r>
              <a:t>Answer: The exploit can only overwrite data up to the original size of the mapped file. Attempting to write beyond the file boundary will fail or result in a bus error, which is why the exploit is typically used to overwrite configuration files (like `/etc/passwd`) where the text can be swapped in-place.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"To demonstrate this exploit in a controlled environment, Hexa Force built a complete Docker-based laboratory. The laboratory uses a custom Dockerfile that copies `dirtyc0w.c` and a shell demo script `run_demo.sh` into an unprivileged container running under the user `victim`. A read-only file `/var/secret/target.txt` is created inside the container as the target. The environment is hosted on an unpatched Linux kernel to allow students and security engineers to safely observe the exploit in real-time."</a:t>
            </a:r>
          </a:p>
          <a:p/>
          <a:p>
            <a:r>
              <a:t>=== CRITICAL TALKING POINTS ===</a:t>
            </a:r>
          </a:p>
          <a:p>
            <a:r>
              <a:t>• Describe the laboratory sandbox components: unprivileged container environment, `victim` user, and read-only target file.</a:t>
            </a:r>
          </a:p>
          <a:p>
            <a:r>
              <a:t>• Explain that the container is run on an unpatched Linux kernel within a nested hypervisor or isolated virtual machine.</a:t>
            </a:r>
          </a:p>
          <a:p>
            <a:r>
              <a:t>• Emphasize that the lab design replicates real-world microservice exploitation in a safe, controlled manner.</a:t>
            </a:r>
          </a:p>
          <a:p/>
          <a:p>
            <a:r>
              <a:t>=== ANTICIPATED EVALUATOR Q&amp;A ===</a:t>
            </a:r>
          </a:p>
          <a:p>
            <a:r>
              <a:t>Question: How do you prevent students from accidentally compromising the host in this lab?</a:t>
            </a:r>
          </a:p>
          <a:p>
            <a:r>
              <a:t>Answer: The lab is run in an isolated virtual machine or sandbox environment. Although the container can theoretically exploit the kernel to escape, running the entire demonstration inside a dedicated test VM guarantees that any host compromise is contained within the sandbox.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"Let's examine the outcome of executing the lab. When we run `./run_demo.sh`, the script compiles `dirtyc0w.c` using gcc and executes the binary against the read-only file `/var/secret/target.txt` with a replacement payload. The threads spin up, complete their 100,000 iterations, and print their completion. When we read `/var/secret/target.txt` immediately after, we find that the read-only file has been successfully overwritten, proving the exploit's success in real-time."</a:t>
            </a:r>
          </a:p>
          <a:p/>
          <a:p>
            <a:r>
              <a:t>=== CRITICAL TALKING POINTS ===</a:t>
            </a:r>
          </a:p>
          <a:p>
            <a:r>
              <a:t>• Outline the real-time execution steps: gcc compilation, target mapping, multi-threaded racing, and outcome reading.</a:t>
            </a:r>
          </a:p>
          <a:p>
            <a:r>
              <a:t>• Emphasize the immediate, visual feedback of the overwrite to prove exploit success.</a:t>
            </a:r>
          </a:p>
          <a:p>
            <a:r>
              <a:t>• Position the lab as a concrete proof of the kernel's virtual memory vulnerability under high-speed thread competition.</a:t>
            </a:r>
          </a:p>
          <a:p/>
          <a:p>
            <a:r>
              <a:t>=== ANTICIPATED EVALUATOR Q&amp;A ===</a:t>
            </a:r>
          </a:p>
          <a:p>
            <a:r>
              <a:t>Question: Why does the exploit sometimes require multiple executions to succeed?</a:t>
            </a:r>
          </a:p>
          <a:p>
            <a:r>
              <a:t>Answer: Because it relies on a timing race condition. Depending on CPU scheduling, system load, and thread execution alignment, the race window may not be hit immediately. However, running the loops 100,000 times almost always guarantees success within a single run.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"The real-world impact of Dirty COW was massive. It affected millions of Linux servers, Android devices, and cloud microservice environments worldwide. In multi-tenant environments—where multiple customers share the same physical server kernel—Dirty COW allowed malicious tenants to bypass isolation and access other tenants' data. It serves as a stark reminder of why prompt kernel patching is a fundamental requirement of cloud infrastructure security."</a:t>
            </a:r>
          </a:p>
          <a:p/>
          <a:p>
            <a:r>
              <a:t>=== CRITICAL TALKING POINTS ===</a:t>
            </a:r>
          </a:p>
          <a:p>
            <a:r>
              <a:t>• Discuss the global scope of CVE-2016-5195: millions of servers, Android mobile devices, and virtualization nodes compromised.</a:t>
            </a:r>
          </a:p>
          <a:p>
            <a:r>
              <a:t>• Explain the risk to multi-tenant cloud hosting: unprivileged users reading or writing adjacent customer memory segments.</a:t>
            </a:r>
          </a:p>
          <a:p>
            <a:r>
              <a:t>• Reiterate that kernel level patching is not an optional operation, but a foundational cloud security mandate.</a:t>
            </a:r>
          </a:p>
          <a:p/>
          <a:p>
            <a:r>
              <a:t>=== ANTICIPATED EVALUATOR Q&amp;A ===</a:t>
            </a:r>
          </a:p>
          <a:p>
            <a:r>
              <a:t>Question: Was Dirty COW ever exploited in the wild?</a:t>
            </a:r>
          </a:p>
          <a:p>
            <a:r>
              <a:t>Answer: Yes. Security researchers and threat intelligence firms detected in-the-wild exploits using Dirty COW to root Android devices, bypass mobile security controls, and compromise multi-tenant web hosting servers before patches were universally applied.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"Remediating Dirty COW requires a multi-layered security strategy. The primary defense is applying kernel updates to patch the vulnerability. Beyond kernel patching, we must implement Defense-in-Depth. In containers, we should strictly drop administrative capabilities (like CAP_SYS_ADMIN), run processes as non-root users, utilize read-only root filesystems, and employ AppArmor or SELinux profiles to restrict system calls like madvise or write access to `/proc/self/mem`."</a:t>
            </a:r>
          </a:p>
          <a:p/>
          <a:p>
            <a:r>
              <a:t>=== CRITICAL TALKING POINTS ===</a:t>
            </a:r>
          </a:p>
          <a:p>
            <a:r>
              <a:t>• Position the core solution: apply the Linux kernel security patch that fixes Copy-on-Write page table routines.</a:t>
            </a:r>
          </a:p>
          <a:p>
            <a:r>
              <a:t>• Walk through the supplemental Defense-in-Depth layers: capability dropping, non-root runtimes, and read-only filesystems.</a:t>
            </a:r>
          </a:p>
          <a:p>
            <a:r>
              <a:t>• Explain how LSMs (Linux Security Modules) like AppArmor or SELinux can block unauthorized syscalls like `madvise`.</a:t>
            </a:r>
          </a:p>
          <a:p/>
          <a:p>
            <a:r>
              <a:t>=== ANTICIPATED EVALUATOR Q&amp;A ===</a:t>
            </a:r>
          </a:p>
          <a:p>
            <a:r>
              <a:t>Question: How can AppArmor or SELinux mitigate Dirty COW if the kernel is unpatched?</a:t>
            </a:r>
          </a:p>
          <a:p>
            <a:r>
              <a:t>Answer: AppArmor or SELinux can block the process from writing to `/proc/self/mem` or restrict the execution of specific system calls, neutralising the exploit's primary vector even if the underlying kernel vulnerability is still present.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TALK TRACK ===</a:t>
            </a:r>
          </a:p>
          <a:p>
            <a:r>
              <a:t>"In conclusion, the Dirty COW technical briefing highlights the deep architectural risks of shared-kernel virtualization. While containerization offers unparalleled efficiency, it demands rigorous host-level patching, strict runtime isolation rules, and continuous security automation. The Hexa Force DevSecOps architecture successfully mitigates these risks, delivering a robust blueprint for modern enterprise security. Thank you, and we are open to any questions."</a:t>
            </a:r>
          </a:p>
          <a:p/>
          <a:p>
            <a:r>
              <a:t>=== CRITICAL TALKING POINTS ===</a:t>
            </a:r>
          </a:p>
          <a:p>
            <a:r>
              <a:t>• Deliver a strong technical summary linking shared-kernel realities to continuous security patching.</a:t>
            </a:r>
          </a:p>
          <a:p>
            <a:r>
              <a:t>• Reiterate that modern microservices demand runtime sandboxing, supply chain integrity, and regular kernel audits.</a:t>
            </a:r>
          </a:p>
          <a:p>
            <a:r>
              <a:t>• Open the floor to final technical questions with absolute poise and authority.</a:t>
            </a:r>
          </a:p>
          <a:p/>
          <a:p>
            <a:r>
              <a:t>=== ANTICIPATED EVALUATOR Q&amp;A ===</a:t>
            </a:r>
          </a:p>
          <a:p>
            <a:r>
              <a:t>Question: What is the most important lesson from the Dirty COW briefing?</a:t>
            </a:r>
          </a:p>
          <a:p>
            <a:r>
              <a:t>Answer: We must never treat containers as full security boundaries by default. Container security requires a continuous DevSecOps pipeline combining host kernel patching, least-privilege runtimes, and supply chain integrity validation to guarantee absolute system security.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685800" y="2011680"/>
            <a:ext cx="109728" cy="2926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058400" cy="365760"/>
          </a:xfrm>
          <a:prstGeom prst="rect">
            <a:avLst/>
          </a:prstGeom>
          <a:noFill/>
        </p:spPr>
        <p:txBody>
          <a:bodyPr wrap="square">
            <a:spAutoFit/>
          </a:bodyPr>
          <a:lstStyle/>
          <a:p>
            <a:pPr>
              <a:defRPr sz="1100" b="1">
                <a:solidFill>
                  <a:srgbClr val="2563EB"/>
                </a:solidFill>
                <a:latin typeface="Arial"/>
              </a:defRPr>
            </a:pPr>
            <a:r>
              <a:t>DIRTY COW BRIEFING</a:t>
            </a:r>
          </a:p>
        </p:txBody>
      </p:sp>
      <p:sp>
        <p:nvSpPr>
          <p:cNvPr id="4" name="TextBox 3"/>
          <p:cNvSpPr txBox="1"/>
          <p:nvPr/>
        </p:nvSpPr>
        <p:spPr>
          <a:xfrm>
            <a:off x="914400" y="2377440"/>
            <a:ext cx="10058400" cy="1645920"/>
          </a:xfrm>
          <a:prstGeom prst="rect">
            <a:avLst/>
          </a:prstGeom>
          <a:noFill/>
        </p:spPr>
        <p:txBody>
          <a:bodyPr wrap="square">
            <a:spAutoFit/>
          </a:bodyPr>
          <a:lstStyle/>
          <a:p>
            <a:pPr>
              <a:defRPr sz="4200" b="1">
                <a:solidFill>
                  <a:srgbClr val="FFFFFF"/>
                </a:solidFill>
                <a:latin typeface="Arial"/>
              </a:defRPr>
            </a:pPr>
            <a:r>
              <a:t>DIRTY COW EXPLOIT DEEP DIVE</a:t>
            </a:r>
          </a:p>
        </p:txBody>
      </p:sp>
      <p:sp>
        <p:nvSpPr>
          <p:cNvPr id="5" name="TextBox 4"/>
          <p:cNvSpPr txBox="1"/>
          <p:nvPr/>
        </p:nvSpPr>
        <p:spPr>
          <a:xfrm>
            <a:off x="914400" y="3931920"/>
            <a:ext cx="10058400" cy="914400"/>
          </a:xfrm>
          <a:prstGeom prst="rect">
            <a:avLst/>
          </a:prstGeom>
          <a:noFill/>
        </p:spPr>
        <p:txBody>
          <a:bodyPr wrap="square">
            <a:spAutoFit/>
          </a:bodyPr>
          <a:lstStyle/>
          <a:p>
            <a:pPr>
              <a:defRPr sz="1600">
                <a:solidFill>
                  <a:srgbClr val="94A3B8"/>
                </a:solidFill>
                <a:latin typeface="Arial"/>
              </a:defRPr>
            </a:pPr>
            <a:r>
              <a:t>Vulnerability Analysis, Virtual Memory Mechanics, and Container Escapes (CVE-2016-5195)</a:t>
            </a:r>
            <a:br/>
            <a:r>
              <a:t>Presented by Hexa Force Security Research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Briefing &amp; Laboratory Agenda</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FOUNDATIONAL OPERATING SYSTEM CONCEPTS</a:t>
            </a:r>
          </a:p>
          <a:p>
            <a:pPr>
              <a:spcAft>
                <a:spcPts val="600"/>
              </a:spcAft>
              <a:defRPr sz="1300">
                <a:solidFill>
                  <a:srgbClr val="F1F5F9"/>
                </a:solidFill>
                <a:latin typeface="Arial"/>
              </a:defRPr>
            </a:pPr>
            <a:r>
              <a:t>• Virtual Memory: address translations, page tables, and physical RAM management.</a:t>
            </a:r>
          </a:p>
          <a:p>
            <a:pPr>
              <a:spcAft>
                <a:spcPts val="600"/>
              </a:spcAft>
              <a:defRPr sz="1300">
                <a:solidFill>
                  <a:srgbClr val="F1F5F9"/>
                </a:solidFill>
                <a:latin typeface="Arial"/>
              </a:defRPr>
            </a:pPr>
            <a:r>
              <a:t>• Copy-On-Write (COW): operating system performance optimization routines.</a:t>
            </a:r>
          </a:p>
          <a:p>
            <a:pPr>
              <a:spcAft>
                <a:spcPts val="600"/>
              </a:spcAft>
              <a:defRPr sz="1300">
                <a:solidFill>
                  <a:srgbClr val="F1F5F9"/>
                </a:solidFill>
                <a:latin typeface="Arial"/>
              </a:defRPr>
            </a:pPr>
            <a:r>
              <a:t>• The Vulnerability: analyzing the non-atomic race condition in core memory page fault structures.</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EXPLOITATION &amp; MITIGATION</a:t>
            </a:r>
          </a:p>
          <a:p>
            <a:pPr>
              <a:spcAft>
                <a:spcPts val="600"/>
              </a:spcAft>
              <a:defRPr sz="1300">
                <a:solidFill>
                  <a:srgbClr val="F1F5F9"/>
                </a:solidFill>
                <a:latin typeface="Arial"/>
              </a:defRPr>
            </a:pPr>
            <a:r>
              <a:t>• The Exploit: multi-threaded race logic via '/proc/self/mem' and 'madvise'.</a:t>
            </a:r>
          </a:p>
          <a:p>
            <a:pPr>
              <a:spcAft>
                <a:spcPts val="600"/>
              </a:spcAft>
              <a:defRPr sz="1300">
                <a:solidFill>
                  <a:srgbClr val="F1F5F9"/>
                </a:solidFill>
                <a:latin typeface="Arial"/>
              </a:defRPr>
            </a:pPr>
            <a:r>
              <a:t>• Container Risk: analyzing why shared host kernels collapse Docker isolation barriers.</a:t>
            </a:r>
          </a:p>
          <a:p>
            <a:pPr>
              <a:spcAft>
                <a:spcPts val="600"/>
              </a:spcAft>
              <a:defRPr sz="1300">
                <a:solidFill>
                  <a:srgbClr val="F1F5F9"/>
                </a:solidFill>
                <a:latin typeface="Arial"/>
              </a:defRPr>
            </a:pPr>
            <a:r>
              <a:t>• Remediation: details of the Linux kernel 'FOLL_COW' patch and enterprise best practices.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Executive Summary: CVE-2016-5195</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VULNERABILITY PROFILE</a:t>
            </a:r>
          </a:p>
          <a:p>
            <a:pPr>
              <a:spcAft>
                <a:spcPts val="600"/>
              </a:spcAft>
              <a:defRPr sz="1300">
                <a:solidFill>
                  <a:srgbClr val="F1F5F9"/>
                </a:solidFill>
                <a:latin typeface="Arial"/>
              </a:defRPr>
            </a:pPr>
            <a:r>
              <a:t>• Core ID: CVE-2016-5195, widely known as the 'Dirty COW' kernel exploit.</a:t>
            </a:r>
          </a:p>
          <a:p>
            <a:pPr>
              <a:spcAft>
                <a:spcPts val="600"/>
              </a:spcAft>
              <a:defRPr sz="1300">
                <a:solidFill>
                  <a:srgbClr val="F1F5F9"/>
                </a:solidFill>
                <a:latin typeface="Arial"/>
              </a:defRPr>
            </a:pPr>
            <a:r>
              <a:t>• Discovered: October 2016 by Phil Oester, affecting Linux kernel versions from 2.6.22 (2007) to 2016.</a:t>
            </a:r>
          </a:p>
          <a:p>
            <a:pPr>
              <a:spcAft>
                <a:spcPts val="600"/>
              </a:spcAft>
              <a:defRPr sz="1300">
                <a:solidFill>
                  <a:srgbClr val="F1F5F9"/>
                </a:solidFill>
                <a:latin typeface="Arial"/>
              </a:defRPr>
            </a:pPr>
            <a:r>
              <a:t>• CVSS Severity: Rated High (CVSS 7.8) due to direct local privilege escalation.</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THE CORE THREAT</a:t>
            </a:r>
          </a:p>
          <a:p>
            <a:pPr>
              <a:spcAft>
                <a:spcPts val="600"/>
              </a:spcAft>
              <a:defRPr sz="1300">
                <a:solidFill>
                  <a:srgbClr val="F1F5F9"/>
                </a:solidFill>
                <a:latin typeface="Arial"/>
              </a:defRPr>
            </a:pPr>
            <a:r>
              <a:t>• Bypasses absolute file access limits: allows unprivileged processes to write to read-only files.</a:t>
            </a:r>
          </a:p>
          <a:p>
            <a:pPr>
              <a:spcAft>
                <a:spcPts val="600"/>
              </a:spcAft>
              <a:defRPr sz="1300">
                <a:solidFill>
                  <a:srgbClr val="F1F5F9"/>
                </a:solidFill>
                <a:latin typeface="Arial"/>
              </a:defRPr>
            </a:pPr>
            <a:r>
              <a:t>• Threat vectors: local users can overwrite system configurations (such as /etc/passwd) to gain root.</a:t>
            </a:r>
          </a:p>
          <a:p>
            <a:pPr>
              <a:spcAft>
                <a:spcPts val="600"/>
              </a:spcAft>
              <a:defRPr sz="1300">
                <a:solidFill>
                  <a:srgbClr val="F1F5F9"/>
                </a:solidFill>
                <a:latin typeface="Arial"/>
              </a:defRPr>
            </a:pPr>
            <a:r>
              <a:t>• Impact: works natively within unprivileged Docker containers, compromising hosts.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Linux Memory Management Foundations</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VIRTUAL &amp; PHYSICAL MEMORY SPACES</a:t>
            </a:r>
          </a:p>
          <a:p>
            <a:pPr>
              <a:spcAft>
                <a:spcPts val="600"/>
              </a:spcAft>
              <a:defRPr sz="1300">
                <a:solidFill>
                  <a:srgbClr val="F1F5F9"/>
                </a:solidFill>
                <a:latin typeface="Arial"/>
              </a:defRPr>
            </a:pPr>
            <a:r>
              <a:t>• Virtual Memory addresses isolate running processes from physical RAM hardware blocks.</a:t>
            </a:r>
          </a:p>
          <a:p>
            <a:pPr>
              <a:spcAft>
                <a:spcPts val="600"/>
              </a:spcAft>
              <a:defRPr sz="1300">
                <a:solidFill>
                  <a:srgbClr val="F1F5F9"/>
                </a:solidFill>
                <a:latin typeface="Arial"/>
              </a:defRPr>
            </a:pPr>
            <a:r>
              <a:t>• Address Translation: The CPU's Memory Management Unit (MMU) uses page tables to translate pages.</a:t>
            </a:r>
          </a:p>
          <a:p>
            <a:pPr>
              <a:spcAft>
                <a:spcPts val="600"/>
              </a:spcAft>
              <a:defRPr sz="1300">
                <a:solidFill>
                  <a:srgbClr val="F1F5F9"/>
                </a:solidFill>
                <a:latin typeface="Arial"/>
              </a:defRPr>
            </a:pPr>
            <a:r>
              <a:t>• Memory is mapped in fixed-size blocks (typically 4KB page frames).</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MEMORY MAPPINGS VIA MMAP</a:t>
            </a:r>
          </a:p>
          <a:p>
            <a:pPr>
              <a:spcAft>
                <a:spcPts val="600"/>
              </a:spcAft>
              <a:defRPr sz="1300">
                <a:solidFill>
                  <a:srgbClr val="F1F5F9"/>
                </a:solidFill>
                <a:latin typeface="Arial"/>
              </a:defRPr>
            </a:pPr>
            <a:r>
              <a:t>• The 'mmap' system call allows processes to map file contents directly into their virtual memory.</a:t>
            </a:r>
          </a:p>
          <a:p>
            <a:pPr>
              <a:spcAft>
                <a:spcPts val="600"/>
              </a:spcAft>
              <a:defRPr sz="1300">
                <a:solidFill>
                  <a:srgbClr val="F1F5F9"/>
                </a:solidFill>
                <a:latin typeface="Arial"/>
              </a:defRPr>
            </a:pPr>
            <a:r>
              <a:t>• This enables high-performance disk access: file read/write operations occur directly in RAM.</a:t>
            </a:r>
          </a:p>
          <a:p>
            <a:pPr>
              <a:spcAft>
                <a:spcPts val="600"/>
              </a:spcAft>
              <a:defRPr sz="1300">
                <a:solidFill>
                  <a:srgbClr val="F1F5F9"/>
                </a:solidFill>
                <a:latin typeface="Arial"/>
              </a:defRPr>
            </a:pPr>
            <a:r>
              <a:t>• Permissions: page tables enforce read, write, and execute permissions on memory ranges.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The Copy-On-Write (COW) Design</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THE RAM OPTIMIZATION STRATEGY</a:t>
            </a:r>
          </a:p>
          <a:p>
            <a:pPr>
              <a:spcAft>
                <a:spcPts val="600"/>
              </a:spcAft>
              <a:defRPr sz="1300">
                <a:solidFill>
                  <a:srgbClr val="F1F5F9"/>
                </a:solidFill>
                <a:latin typeface="Arial"/>
              </a:defRPr>
            </a:pPr>
            <a:r>
              <a:t>• When a process requests a private file mapping using the 'MAP_PRIVATE' flag, memory is conserved.</a:t>
            </a:r>
          </a:p>
          <a:p>
            <a:pPr>
              <a:spcAft>
                <a:spcPts val="600"/>
              </a:spcAft>
              <a:defRPr sz="1300">
                <a:solidFill>
                  <a:srgbClr val="F1F5F9"/>
                </a:solidFill>
                <a:latin typeface="Arial"/>
              </a:defRPr>
            </a:pPr>
            <a:r>
              <a:t>• Rather than duplication, the process's virtual memory maps to the same shared physical pages as the source file.</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TRIGGERING PAGE REPLICATION</a:t>
            </a:r>
          </a:p>
          <a:p>
            <a:pPr>
              <a:spcAft>
                <a:spcPts val="600"/>
              </a:spcAft>
              <a:defRPr sz="1300">
                <a:solidFill>
                  <a:srgbClr val="F1F5F9"/>
                </a:solidFill>
                <a:latin typeface="Arial"/>
              </a:defRPr>
            </a:pPr>
            <a:r>
              <a:t>• If a process attempts a write operation, the MMU triggers a page fault because the mapping is write-protected.</a:t>
            </a:r>
          </a:p>
          <a:p>
            <a:pPr>
              <a:spcAft>
                <a:spcPts val="600"/>
              </a:spcAft>
              <a:defRPr sz="1300">
                <a:solidFill>
                  <a:srgbClr val="F1F5F9"/>
                </a:solidFill>
                <a:latin typeface="Arial"/>
              </a:defRPr>
            </a:pPr>
            <a:r>
              <a:t>• The kernel allocates a new physical frame, duplicates the source content, updates the process's page table to this new copy, and executes the write.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The Vulnerability: COW Broken</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THE NON-ATOMIC PAGE FAULT HANDLER</a:t>
            </a:r>
          </a:p>
          <a:p>
            <a:pPr>
              <a:spcAft>
                <a:spcPts val="600"/>
              </a:spcAft>
              <a:defRPr sz="1300">
                <a:solidFill>
                  <a:srgbClr val="F1F5F9"/>
                </a:solidFill>
                <a:latin typeface="Arial"/>
              </a:defRPr>
            </a:pPr>
            <a:r>
              <a:t>• The virtual memory subsystem performs Copy-on-Write page allocations as a multi-step routine.</a:t>
            </a:r>
          </a:p>
          <a:p>
            <a:pPr>
              <a:spcAft>
                <a:spcPts val="600"/>
              </a:spcAft>
              <a:defRPr sz="1300">
                <a:solidFill>
                  <a:srgbClr val="F1F5F9"/>
                </a:solidFill>
                <a:latin typeface="Arial"/>
              </a:defRPr>
            </a:pPr>
            <a:r>
              <a:t>• Multi-Step Sequence: (1) Check page permissions, (2) Trigger write page fault, (3) Allocate private page copy, (4) Update page table.</a:t>
            </a:r>
          </a:p>
          <a:p>
            <a:pPr>
              <a:spcAft>
                <a:spcPts val="600"/>
              </a:spcAft>
              <a:defRPr sz="1300">
                <a:solidFill>
                  <a:srgbClr val="F1F5F9"/>
                </a:solidFill>
                <a:latin typeface="Arial"/>
              </a:defRPr>
            </a:pPr>
            <a:r>
              <a:t>• Problem: This multi-step process is non-atomic.</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TRIGGERING THE RACE CONDITION</a:t>
            </a:r>
          </a:p>
          <a:p>
            <a:pPr>
              <a:spcAft>
                <a:spcPts val="600"/>
              </a:spcAft>
              <a:defRPr sz="1300">
                <a:solidFill>
                  <a:srgbClr val="F1F5F9"/>
                </a:solidFill>
                <a:latin typeface="Arial"/>
              </a:defRPr>
            </a:pPr>
            <a:r>
              <a:t>• While Thread B is executing the multi-step COW handler, Thread A repeatedly discards the memory map.</a:t>
            </a:r>
          </a:p>
          <a:p>
            <a:pPr>
              <a:spcAft>
                <a:spcPts val="600"/>
              </a:spcAft>
              <a:defRPr sz="1300">
                <a:solidFill>
                  <a:srgbClr val="F1F5F9"/>
                </a:solidFill>
                <a:latin typeface="Arial"/>
              </a:defRPr>
            </a:pPr>
            <a:r>
              <a:t>• The kernel yields CPU control mid-operation, losing track of the COW allocation state.</a:t>
            </a:r>
          </a:p>
          <a:p>
            <a:pPr>
              <a:spcAft>
                <a:spcPts val="600"/>
              </a:spcAft>
              <a:defRPr sz="1300">
                <a:solidFill>
                  <a:srgbClr val="F1F5F9"/>
                </a:solidFill>
                <a:latin typeface="Arial"/>
              </a:defRPr>
            </a:pPr>
            <a:r>
              <a:t>• Result: The write call writes directly to the original read-only backing cache.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Key System Calls &amp; Components</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MMAP AND MADVISE TOOLS</a:t>
            </a:r>
          </a:p>
          <a:p>
            <a:pPr>
              <a:spcAft>
                <a:spcPts val="600"/>
              </a:spcAft>
              <a:defRPr sz="1300">
                <a:solidFill>
                  <a:srgbClr val="F1F5F9"/>
                </a:solidFill>
                <a:latin typeface="Arial"/>
              </a:defRPr>
            </a:pPr>
            <a:r>
              <a:t>• 'mmap' with 'MAP_PRIVATE' maps the target read-only root file into process virtual memory.</a:t>
            </a:r>
          </a:p>
          <a:p>
            <a:pPr>
              <a:spcAft>
                <a:spcPts val="600"/>
              </a:spcAft>
              <a:defRPr sz="1300">
                <a:solidFill>
                  <a:srgbClr val="F1F5F9"/>
                </a:solidFill>
                <a:latin typeface="Arial"/>
              </a:defRPr>
            </a:pPr>
            <a:r>
              <a:t>• 'madvise' with 'MADV_DONTNEED' advises the kernel that the mapped page range is no longer needed.</a:t>
            </a:r>
          </a:p>
          <a:p>
            <a:pPr>
              <a:spcAft>
                <a:spcPts val="600"/>
              </a:spcAft>
              <a:defRPr sz="1300">
                <a:solidFill>
                  <a:srgbClr val="F1F5F9"/>
                </a:solidFill>
                <a:latin typeface="Arial"/>
              </a:defRPr>
            </a:pPr>
            <a:r>
              <a:t>• The kernel responds by immediately clearing virtual page table links.</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THE /PROC/SELF/MEM BACKDOOR</a:t>
            </a:r>
          </a:p>
          <a:p>
            <a:pPr>
              <a:spcAft>
                <a:spcPts val="600"/>
              </a:spcAft>
              <a:defRPr sz="1300">
                <a:solidFill>
                  <a:srgbClr val="F1F5F9"/>
                </a:solidFill>
                <a:latin typeface="Arial"/>
              </a:defRPr>
            </a:pPr>
            <a:r>
              <a:t>• Direct pointer writes (e.g. *ptr = 'x') fail instantly with MMU hardware segmentation faults.</a:t>
            </a:r>
          </a:p>
          <a:p>
            <a:pPr>
              <a:spcAft>
                <a:spcPts val="600"/>
              </a:spcAft>
              <a:defRPr sz="1300">
                <a:solidFill>
                  <a:srgbClr val="F1F5F9"/>
                </a:solidFill>
                <a:latin typeface="Arial"/>
              </a:defRPr>
            </a:pPr>
            <a:r>
              <a:t>• Exploit: Bypasses the MMU by writing through '/proc/self/mem' (process virtual memory file).</a:t>
            </a:r>
          </a:p>
          <a:p>
            <a:pPr>
              <a:spcAft>
                <a:spcPts val="600"/>
              </a:spcAft>
              <a:defRPr sz="1300">
                <a:solidFill>
                  <a:srgbClr val="F1F5F9"/>
                </a:solidFill>
                <a:latin typeface="Arial"/>
              </a:defRPr>
            </a:pPr>
            <a:r>
              <a:t>• This routes the write call directly through kernel memory routines.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Step-by-Step Race Condition Flow</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THREAD A (THE DISCARDER)</a:t>
            </a:r>
          </a:p>
          <a:p>
            <a:pPr>
              <a:spcAft>
                <a:spcPts val="600"/>
              </a:spcAft>
              <a:defRPr sz="1300">
                <a:solidFill>
                  <a:srgbClr val="F1F5F9"/>
                </a:solidFill>
                <a:latin typeface="Arial"/>
              </a:defRPr>
            </a:pPr>
            <a:r>
              <a:t>• Executes in a high-speed, infinite loop.</a:t>
            </a:r>
          </a:p>
          <a:p>
            <a:pPr>
              <a:spcAft>
                <a:spcPts val="600"/>
              </a:spcAft>
              <a:defRPr sz="1300">
                <a:solidFill>
                  <a:srgbClr val="F1F5F9"/>
                </a:solidFill>
                <a:latin typeface="Arial"/>
              </a:defRPr>
            </a:pPr>
            <a:r>
              <a:t>• System Call: 'madvise(map, size, MADV_DONTNEED)'.</a:t>
            </a:r>
          </a:p>
          <a:p>
            <a:pPr>
              <a:spcAft>
                <a:spcPts val="600"/>
              </a:spcAft>
              <a:defRPr sz="1300">
                <a:solidFill>
                  <a:srgbClr val="F1F5F9"/>
                </a:solidFill>
                <a:latin typeface="Arial"/>
              </a:defRPr>
            </a:pPr>
            <a:r>
              <a:t>• Action: Repeatedly clears the physical page table pointers for our mapped virtual memory address.</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THREAD B (THE WRITER)</a:t>
            </a:r>
          </a:p>
          <a:p>
            <a:pPr>
              <a:spcAft>
                <a:spcPts val="600"/>
              </a:spcAft>
              <a:defRPr sz="1300">
                <a:solidFill>
                  <a:srgbClr val="F1F5F9"/>
                </a:solidFill>
                <a:latin typeface="Arial"/>
              </a:defRPr>
            </a:pPr>
            <a:r>
              <a:t>• Runs concurrently in a parallel, high-speed loop.</a:t>
            </a:r>
          </a:p>
          <a:p>
            <a:pPr>
              <a:spcAft>
                <a:spcPts val="600"/>
              </a:spcAft>
              <a:defRPr sz="1300">
                <a:solidFill>
                  <a:srgbClr val="F1F5F9"/>
                </a:solidFill>
                <a:latin typeface="Arial"/>
              </a:defRPr>
            </a:pPr>
            <a:r>
              <a:t>• Action: Performs writes to `/proc/self/mem` targeting our mapped virtual address.</a:t>
            </a:r>
          </a:p>
          <a:p>
            <a:pPr>
              <a:spcAft>
                <a:spcPts val="600"/>
              </a:spcAft>
              <a:defRPr sz="1300">
                <a:solidFill>
                  <a:srgbClr val="F1F5F9"/>
                </a:solidFill>
                <a:latin typeface="Arial"/>
              </a:defRPr>
            </a:pPr>
            <a:r>
              <a:t>• Timing Collision: The write permission check succeeds, the page is discarded by Thread A, and the write executes directly to read-only memory.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Dirty COW inside Docker Containers</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THE SHARED KERNEL FLAW</a:t>
            </a:r>
          </a:p>
          <a:p>
            <a:pPr>
              <a:spcAft>
                <a:spcPts val="600"/>
              </a:spcAft>
              <a:defRPr sz="1300">
                <a:solidFill>
                  <a:srgbClr val="F1F5F9"/>
                </a:solidFill>
                <a:latin typeface="Arial"/>
              </a:defRPr>
            </a:pPr>
            <a:r>
              <a:t>• Docker containers share the physical host system's Linux kernel directly, relying on namespaces for isolation.</a:t>
            </a:r>
          </a:p>
          <a:p>
            <a:pPr>
              <a:spcAft>
                <a:spcPts val="600"/>
              </a:spcAft>
              <a:defRPr sz="1300">
                <a:solidFill>
                  <a:srgbClr val="F1F5F9"/>
                </a:solidFill>
                <a:latin typeface="Arial"/>
              </a:defRPr>
            </a:pPr>
            <a:r>
              <a:t>• If the host's underlying kernel is unpatched, every container running on it is exposed.</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BYPASSING NAMESPACE ISOLATION</a:t>
            </a:r>
          </a:p>
          <a:p>
            <a:pPr>
              <a:spcAft>
                <a:spcPts val="600"/>
              </a:spcAft>
              <a:defRPr sz="1300">
                <a:solidFill>
                  <a:srgbClr val="F1F5F9"/>
                </a:solidFill>
                <a:latin typeface="Arial"/>
              </a:defRPr>
            </a:pPr>
            <a:r>
              <a:t>• Running 'dirtyc0w' inside a container bypasses Docker's read-only mounts.</a:t>
            </a:r>
          </a:p>
          <a:p>
            <a:pPr>
              <a:spcAft>
                <a:spcPts val="600"/>
              </a:spcAft>
              <a:defRPr sz="1300">
                <a:solidFill>
                  <a:srgbClr val="F1F5F9"/>
                </a:solidFill>
                <a:latin typeface="Arial"/>
              </a:defRPr>
            </a:pPr>
            <a:r>
              <a:t>• The exploit modifies the shared kernel page cache directly in physical RAM.</a:t>
            </a:r>
          </a:p>
          <a:p>
            <a:pPr>
              <a:spcAft>
                <a:spcPts val="600"/>
              </a:spcAft>
              <a:defRPr sz="1300">
                <a:solidFill>
                  <a:srgbClr val="F1F5F9"/>
                </a:solidFill>
                <a:latin typeface="Arial"/>
              </a:defRPr>
            </a:pPr>
            <a:r>
              <a:t>• Changes propagate to the host file system, breaking the container boundary.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Privilege Escalation to Container Escape</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STEP 1: CONTAINER ROOT ELEVATION</a:t>
            </a:r>
          </a:p>
          <a:p>
            <a:pPr>
              <a:spcAft>
                <a:spcPts val="600"/>
              </a:spcAft>
              <a:defRPr sz="1300">
                <a:solidFill>
                  <a:srgbClr val="F1F5F9"/>
                </a:solidFill>
                <a:latin typeface="Arial"/>
              </a:defRPr>
            </a:pPr>
            <a:r>
              <a:t>• Attacker secures a shell as a low-privileged container user ('victim').</a:t>
            </a:r>
          </a:p>
          <a:p>
            <a:pPr>
              <a:spcAft>
                <a:spcPts val="600"/>
              </a:spcAft>
              <a:defRPr sz="1300">
                <a:solidFill>
                  <a:srgbClr val="F1F5F9"/>
                </a:solidFill>
                <a:latin typeface="Arial"/>
              </a:defRPr>
            </a:pPr>
            <a:r>
              <a:t>• Running 'dirtyc0w' overwrites a container root configuration file, elevating the shell to container root.</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STEP 2: COMPLETE HOST BREAKOUT</a:t>
            </a:r>
          </a:p>
          <a:p>
            <a:pPr>
              <a:spcAft>
                <a:spcPts val="600"/>
              </a:spcAft>
              <a:defRPr sz="1300">
                <a:solidFill>
                  <a:srgbClr val="F1F5F9"/>
                </a:solidFill>
                <a:latin typeface="Arial"/>
              </a:defRPr>
            </a:pPr>
            <a:r>
              <a:t>• From container root, the attacker abuses administrative permissions (like CAP_SYS_ADMIN).</a:t>
            </a:r>
          </a:p>
          <a:p>
            <a:pPr>
              <a:spcAft>
                <a:spcPts val="600"/>
              </a:spcAft>
              <a:defRPr sz="1300">
                <a:solidFill>
                  <a:srgbClr val="F1F5F9"/>
                </a:solidFill>
                <a:latin typeface="Arial"/>
              </a:defRPr>
            </a:pPr>
            <a:r>
              <a:t>• They target host sockets (like /var/run/docker.sock) to launch a privileged container.</a:t>
            </a:r>
          </a:p>
          <a:p>
            <a:pPr>
              <a:spcAft>
                <a:spcPts val="600"/>
              </a:spcAft>
              <a:defRPr sz="1300">
                <a:solidFill>
                  <a:srgbClr val="F1F5F9"/>
                </a:solidFill>
                <a:latin typeface="Arial"/>
              </a:defRPr>
            </a:pPr>
            <a:r>
              <a:t>• They mount the host filesystem and establish persistent host root shells.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Exploit Implementation: C Code Breakdown</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MEMORY MAPPING &amp; THREAD SPAWNING</a:t>
            </a:r>
          </a:p>
          <a:p>
            <a:pPr>
              <a:spcAft>
                <a:spcPts val="600"/>
              </a:spcAft>
              <a:defRPr sz="1300">
                <a:solidFill>
                  <a:srgbClr val="F1F5F9"/>
                </a:solidFill>
                <a:latin typeface="Arial"/>
              </a:defRPr>
            </a:pPr>
            <a:r>
              <a:t>• target opened as O_RDONLY; mapped with 'mmap(..., PROT_READ, MAP_PRIVATE, f, 0)'.</a:t>
            </a:r>
          </a:p>
          <a:p>
            <a:pPr>
              <a:spcAft>
                <a:spcPts val="600"/>
              </a:spcAft>
              <a:defRPr sz="1300">
                <a:solidFill>
                  <a:srgbClr val="F1F5F9"/>
                </a:solidFill>
                <a:latin typeface="Arial"/>
              </a:defRPr>
            </a:pPr>
            <a:r>
              <a:t>• Spawns dual race threads using 'pthread_create'.</a:t>
            </a:r>
          </a:p>
          <a:p>
            <a:pPr>
              <a:spcAft>
                <a:spcPts val="600"/>
              </a:spcAft>
              <a:defRPr sz="1300">
                <a:solidFill>
                  <a:srgbClr val="F1F5F9"/>
                </a:solidFill>
                <a:latin typeface="Arial"/>
              </a:defRPr>
            </a:pPr>
            <a:r>
              <a:t>• Thread 1: loops 'madvise(map, 100, MADV_DONTNEED)' 100,000 times.</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/PROC/SELF/MEM WRITING LOOP</a:t>
            </a:r>
          </a:p>
          <a:p>
            <a:pPr>
              <a:spcAft>
                <a:spcPts val="600"/>
              </a:spcAft>
              <a:defRPr sz="1300">
                <a:solidFill>
                  <a:srgbClr val="F1F5F9"/>
                </a:solidFill>
                <a:latin typeface="Arial"/>
              </a:defRPr>
            </a:pPr>
            <a:r>
              <a:t>• Thread 2: opens '/proc/self/mem' in O_RDWR mode.</a:t>
            </a:r>
          </a:p>
          <a:p>
            <a:pPr>
              <a:spcAft>
                <a:spcPts val="600"/>
              </a:spcAft>
              <a:defRPr sz="1300">
                <a:solidFill>
                  <a:srgbClr val="F1F5F9"/>
                </a:solidFill>
                <a:latin typeface="Arial"/>
              </a:defRPr>
            </a:pPr>
            <a:r>
              <a:t>• Loops 100,000 times: calls 'lseek' to map address, then calls 'write' to inject payload.</a:t>
            </a:r>
          </a:p>
          <a:p>
            <a:pPr>
              <a:spcAft>
                <a:spcPts val="600"/>
              </a:spcAft>
              <a:defRPr sz="1300">
                <a:solidFill>
                  <a:srgbClr val="F1F5F9"/>
                </a:solidFill>
                <a:latin typeface="Arial"/>
              </a:defRPr>
            </a:pPr>
            <a:r>
              <a:t>• Parallel core execution maximizes the probability of hitting the race window.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Hands-on Lab: Container Environment</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LABORATORY SANDBOX CONFIGURATION</a:t>
            </a:r>
          </a:p>
          <a:p>
            <a:pPr>
              <a:spcAft>
                <a:spcPts val="600"/>
              </a:spcAft>
              <a:defRPr sz="1300">
                <a:solidFill>
                  <a:srgbClr val="F1F5F9"/>
                </a:solidFill>
                <a:latin typeface="Arial"/>
              </a:defRPr>
            </a:pPr>
            <a:r>
              <a:t>• Base OS: Ubuntu Docker container mapped to a vulnerable host kernel.</a:t>
            </a:r>
          </a:p>
          <a:p>
            <a:pPr>
              <a:spcAft>
                <a:spcPts val="600"/>
              </a:spcAft>
              <a:defRPr sz="1300">
                <a:solidFill>
                  <a:srgbClr val="F1F5F9"/>
                </a:solidFill>
                <a:latin typeface="Arial"/>
              </a:defRPr>
            </a:pPr>
            <a:r>
              <a:t>• Unprivileged environment: runs under custom 'USER victim' shell context.</a:t>
            </a:r>
          </a:p>
          <a:p>
            <a:pPr>
              <a:spcAft>
                <a:spcPts val="600"/>
              </a:spcAft>
              <a:defRPr sz="1300">
                <a:solidFill>
                  <a:srgbClr val="F1F5F9"/>
                </a:solidFill>
                <a:latin typeface="Arial"/>
              </a:defRPr>
            </a:pPr>
            <a:r>
              <a:t>• Target asset: read-only target file '/var/secret/target.txt' owned by root.</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CI/CD PIPELINE INTEGRITY</a:t>
            </a:r>
          </a:p>
          <a:p>
            <a:pPr>
              <a:spcAft>
                <a:spcPts val="600"/>
              </a:spcAft>
              <a:defRPr sz="1300">
                <a:solidFill>
                  <a:srgbClr val="F1F5F9"/>
                </a:solidFill>
                <a:latin typeface="Arial"/>
              </a:defRPr>
            </a:pPr>
            <a:r>
              <a:t>• The laboratory includes automated build scripts to compile the exploit binary safely.</a:t>
            </a:r>
          </a:p>
          <a:p>
            <a:pPr>
              <a:spcAft>
                <a:spcPts val="600"/>
              </a:spcAft>
              <a:defRPr sz="1300">
                <a:solidFill>
                  <a:srgbClr val="F1F5F9"/>
                </a:solidFill>
                <a:latin typeface="Arial"/>
              </a:defRPr>
            </a:pPr>
            <a:r>
              <a:t>• Teaches developers and administrators how runtime boundaries fail in unpatched systems.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Executing the Lab &amp; Outcome Analysis</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EXPLOIT EXECUTION FLOW</a:t>
            </a:r>
          </a:p>
          <a:p>
            <a:pPr>
              <a:spcAft>
                <a:spcPts val="600"/>
              </a:spcAft>
              <a:defRPr sz="1300">
                <a:solidFill>
                  <a:srgbClr val="F1F5F9"/>
                </a:solidFill>
                <a:latin typeface="Arial"/>
              </a:defRPr>
            </a:pPr>
            <a:r>
              <a:t>• Low-privileged 'victim' shell executes the compiled 'dirtyc0w' binary.</a:t>
            </a:r>
          </a:p>
          <a:p>
            <a:pPr>
              <a:spcAft>
                <a:spcPts val="600"/>
              </a:spcAft>
              <a:defRPr sz="1300">
                <a:solidFill>
                  <a:srgbClr val="F1F5F9"/>
                </a:solidFill>
                <a:latin typeface="Arial"/>
              </a:defRPr>
            </a:pPr>
            <a:r>
              <a:t>• Shell command: './dirtyc0w /var/secret/target.txt PAYLOAD_STRING'.</a:t>
            </a:r>
          </a:p>
          <a:p>
            <a:pPr>
              <a:spcAft>
                <a:spcPts val="600"/>
              </a:spcAft>
              <a:defRPr sz="1300">
                <a:solidFill>
                  <a:srgbClr val="F1F5F9"/>
                </a:solidFill>
                <a:latin typeface="Arial"/>
              </a:defRPr>
            </a:pPr>
            <a:r>
              <a:t>• The race threads execute concurrently, outputting completion counts.</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VULNERABILITY PROOF</a:t>
            </a:r>
          </a:p>
          <a:p>
            <a:pPr>
              <a:spcAft>
                <a:spcPts val="600"/>
              </a:spcAft>
              <a:defRPr sz="1300">
                <a:solidFill>
                  <a:srgbClr val="F1F5F9"/>
                </a:solidFill>
                <a:latin typeface="Arial"/>
              </a:defRPr>
            </a:pPr>
            <a:r>
              <a:t>• Read-only file read check: 'cat /var/secret/target.txt'.</a:t>
            </a:r>
          </a:p>
          <a:p>
            <a:pPr>
              <a:spcAft>
                <a:spcPts val="600"/>
              </a:spcAft>
              <a:defRPr sz="1300">
                <a:solidFill>
                  <a:srgbClr val="F1F5F9"/>
                </a:solidFill>
                <a:latin typeface="Arial"/>
              </a:defRPr>
            </a:pPr>
            <a:r>
              <a:t>• Outcome: The file content is overwritten by the payload.</a:t>
            </a:r>
          </a:p>
          <a:p>
            <a:pPr>
              <a:spcAft>
                <a:spcPts val="600"/>
              </a:spcAft>
              <a:defRPr sz="1300">
                <a:solidFill>
                  <a:srgbClr val="F1F5F9"/>
                </a:solidFill>
                <a:latin typeface="Arial"/>
              </a:defRPr>
            </a:pPr>
            <a:r>
              <a:t>• Direct proof that kernel-level page protection has been bypassed successfully.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Real-world Exploitation &amp; Notable Cases</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MASSIVE CLOUD INFRASTRUCTURE IMPACT</a:t>
            </a:r>
          </a:p>
          <a:p>
            <a:pPr>
              <a:spcAft>
                <a:spcPts val="600"/>
              </a:spcAft>
              <a:defRPr sz="1300">
                <a:solidFill>
                  <a:srgbClr val="F1F5F9"/>
                </a:solidFill>
                <a:latin typeface="Arial"/>
              </a:defRPr>
            </a:pPr>
            <a:r>
              <a:t>• Millions of Linux cloud servers, virtualization nodes, and Android mobile devices were left vulnerable.</a:t>
            </a:r>
          </a:p>
          <a:p>
            <a:pPr>
              <a:spcAft>
                <a:spcPts val="600"/>
              </a:spcAft>
              <a:defRPr sz="1300">
                <a:solidFill>
                  <a:srgbClr val="F1F5F9"/>
                </a:solidFill>
                <a:latin typeface="Arial"/>
              </a:defRPr>
            </a:pPr>
            <a:r>
              <a:t>• Multi-tenant hypervisors were highly exposed: attackers could read/write physical memory of neighboring tenants.</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WILD EXPLOITATION</a:t>
            </a:r>
          </a:p>
          <a:p>
            <a:pPr>
              <a:spcAft>
                <a:spcPts val="600"/>
              </a:spcAft>
              <a:defRPr sz="1300">
                <a:solidFill>
                  <a:srgbClr val="F1F5F9"/>
                </a:solidFill>
                <a:latin typeface="Arial"/>
              </a:defRPr>
            </a:pPr>
            <a:r>
              <a:t>• In-the-wild threat telemetry detected active mobile exploits bypassing OS permissions.</a:t>
            </a:r>
          </a:p>
          <a:p>
            <a:pPr>
              <a:spcAft>
                <a:spcPts val="600"/>
              </a:spcAft>
              <a:defRPr sz="1300">
                <a:solidFill>
                  <a:srgbClr val="F1F5F9"/>
                </a:solidFill>
                <a:latin typeface="Arial"/>
              </a:defRPr>
            </a:pPr>
            <a:r>
              <a:t>• Emphasizes that host patching is the most critical foundation of container security.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Defense &amp; Hardening Strategies</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RUNTIME REMEDIATION</a:t>
            </a:r>
          </a:p>
          <a:p>
            <a:pPr>
              <a:spcAft>
                <a:spcPts val="600"/>
              </a:spcAft>
              <a:defRPr sz="1300">
                <a:solidFill>
                  <a:srgbClr val="F1F5F9"/>
                </a:solidFill>
                <a:latin typeface="Arial"/>
              </a:defRPr>
            </a:pPr>
            <a:r>
              <a:t>• Capability Dropping: Drop administrative capabilities: run containers with '--cap-drop=ALL'.</a:t>
            </a:r>
          </a:p>
          <a:p>
            <a:pPr>
              <a:spcAft>
                <a:spcPts val="600"/>
              </a:spcAft>
              <a:defRPr sz="1300">
                <a:solidFill>
                  <a:srgbClr val="F1F5F9"/>
                </a:solidFill>
                <a:latin typeface="Arial"/>
              </a:defRPr>
            </a:pPr>
            <a:r>
              <a:t>• Read-only Runtimes: Mark root filesystems as read-only using '--read-only' to block exploit downloads.</a:t>
            </a:r>
          </a:p>
          <a:p>
            <a:pPr>
              <a:spcAft>
                <a:spcPts val="600"/>
              </a:spcAft>
              <a:defRPr sz="1300">
                <a:solidFill>
                  <a:srgbClr val="F1F5F9"/>
                </a:solidFill>
                <a:latin typeface="Arial"/>
              </a:defRPr>
            </a:pPr>
            <a:r>
              <a:t>• Non-root users: Enforce UID limits.</a:t>
            </a:r>
          </a:p>
        </p:txBody>
      </p:sp>
      <p:sp>
        <p:nvSpPr>
          <p:cNvPr id="6" name="Rectangle 5"/>
          <p:cNvSpPr/>
          <p:nvPr/>
        </p:nvSpPr>
        <p:spPr>
          <a:xfrm>
            <a:off x="621792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SYSTEM-LEVEL PROTECTIONS</a:t>
            </a:r>
          </a:p>
          <a:p>
            <a:pPr>
              <a:spcAft>
                <a:spcPts val="600"/>
              </a:spcAft>
              <a:defRPr sz="1300">
                <a:solidFill>
                  <a:srgbClr val="F1F5F9"/>
                </a:solidFill>
                <a:latin typeface="Arial"/>
              </a:defRPr>
            </a:pPr>
            <a:r>
              <a:t>• Kernel Patching: Apply updates instantly to host operating systems.</a:t>
            </a:r>
          </a:p>
          <a:p>
            <a:pPr>
              <a:spcAft>
                <a:spcPts val="600"/>
              </a:spcAft>
              <a:defRPr sz="1300">
                <a:solidFill>
                  <a:srgbClr val="F1F5F9"/>
                </a:solidFill>
                <a:latin typeface="Arial"/>
              </a:defRPr>
            </a:pPr>
            <a:r>
              <a:t>• Linux Security Modules (LSMs): deploy AppArmor/SELinux profiles to restrict memory access calls.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17352" cy="274320"/>
          </a:xfrm>
          <a:prstGeom prst="rect">
            <a:avLst/>
          </a:prstGeom>
          <a:noFill/>
        </p:spPr>
        <p:txBody>
          <a:bodyPr wrap="square" lIns="0" rIns="0" tIns="0" bIns="0">
            <a:spAutoFit/>
          </a:bodyPr>
          <a:lstStyle/>
          <a:p>
            <a:pPr>
              <a:defRPr sz="950" b="1">
                <a:solidFill>
                  <a:srgbClr val="2563EB"/>
                </a:solidFill>
                <a:latin typeface="Arial"/>
              </a:defRPr>
            </a:pPr>
            <a:r>
              <a:t>DIRTY COW TECHNICAL ASSESSMENTS</a:t>
            </a:r>
          </a:p>
        </p:txBody>
      </p:sp>
      <p:sp>
        <p:nvSpPr>
          <p:cNvPr id="3" name="TextBox 2"/>
          <p:cNvSpPr txBox="1"/>
          <p:nvPr/>
        </p:nvSpPr>
        <p:spPr>
          <a:xfrm>
            <a:off x="685800" y="594360"/>
            <a:ext cx="10817352" cy="731520"/>
          </a:xfrm>
          <a:prstGeom prst="rect">
            <a:avLst/>
          </a:prstGeom>
          <a:noFill/>
        </p:spPr>
        <p:txBody>
          <a:bodyPr wrap="square" lIns="0" rIns="0" tIns="0" bIns="0">
            <a:spAutoFit/>
          </a:bodyPr>
          <a:lstStyle/>
          <a:p>
            <a:pPr>
              <a:defRPr sz="2800" b="1">
                <a:solidFill>
                  <a:srgbClr val="FFFFFF"/>
                </a:solidFill>
                <a:latin typeface="Arial"/>
              </a:defRPr>
            </a:pPr>
            <a:r>
              <a:t>Conclusion &amp; Core Lessons</a:t>
            </a:r>
          </a:p>
        </p:txBody>
      </p:sp>
      <p:sp>
        <p:nvSpPr>
          <p:cNvPr id="4" name="Rectangle 3"/>
          <p:cNvSpPr/>
          <p:nvPr/>
        </p:nvSpPr>
        <p:spPr>
          <a:xfrm>
            <a:off x="685800" y="1645920"/>
            <a:ext cx="5120640" cy="43891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754880" cy="4023360"/>
          </a:xfrm>
          <a:prstGeom prst="rect">
            <a:avLst/>
          </a:prstGeom>
          <a:noFill/>
        </p:spPr>
        <p:txBody>
          <a:bodyPr wrap="square" lIns="0" rIns="0" tIns="0" bIns="0">
            <a:spAutoFit/>
          </a:bodyPr>
          <a:lstStyle/>
          <a:p>
            <a:pPr>
              <a:spcAft>
                <a:spcPts val="1000"/>
              </a:spcAft>
              <a:defRPr sz="1300" b="1">
                <a:solidFill>
                  <a:srgbClr val="2563EB"/>
                </a:solidFill>
                <a:latin typeface="Arial"/>
              </a:defRPr>
            </a:pPr>
            <a:r>
              <a:t>MAIN TAKEAWAYS</a:t>
            </a:r>
          </a:p>
          <a:p>
            <a:pPr>
              <a:spcAft>
                <a:spcPts val="600"/>
              </a:spcAft>
              <a:defRPr sz="1300">
                <a:solidFill>
                  <a:srgbClr val="F1F5F9"/>
                </a:solidFill>
                <a:latin typeface="Arial"/>
              </a:defRPr>
            </a:pPr>
            <a:r>
              <a:t>• Containers are not sandboxes: direct kernel sharing represents an implicit trust relationship with the host.</a:t>
            </a:r>
          </a:p>
          <a:p>
            <a:pPr>
              <a:spcAft>
                <a:spcPts val="600"/>
              </a:spcAft>
              <a:defRPr sz="1300">
                <a:solidFill>
                  <a:srgbClr val="F1F5F9"/>
                </a:solidFill>
                <a:latin typeface="Arial"/>
              </a:defRPr>
            </a:pPr>
            <a:r>
              <a:t>• Defense-in-depth is mandatory: runtime lockdowns must align with prompt kernel security patching.</a:t>
            </a:r>
          </a:p>
        </p:txBody>
      </p:sp>
      <p:sp>
        <p:nvSpPr>
          <p:cNvPr id="6" name="Rectangle 5"/>
          <p:cNvSpPr/>
          <p:nvPr/>
        </p:nvSpPr>
        <p:spPr>
          <a:xfrm>
            <a:off x="6217920" y="1645920"/>
            <a:ext cx="5120640" cy="4389120"/>
          </a:xfrm>
          <a:prstGeom prst="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828800"/>
            <a:ext cx="4754880" cy="4023360"/>
          </a:xfrm>
          <a:prstGeom prst="rect">
            <a:avLst/>
          </a:prstGeom>
          <a:noFill/>
        </p:spPr>
        <p:txBody>
          <a:bodyPr wrap="square" lIns="0" rIns="0" tIns="0" bIns="0">
            <a:spAutoFit/>
          </a:bodyPr>
          <a:lstStyle/>
          <a:p>
            <a:pPr>
              <a:spcAft>
                <a:spcPts val="1000"/>
              </a:spcAft>
              <a:defRPr sz="1300" b="1">
                <a:solidFill>
                  <a:srgbClr val="10B981"/>
                </a:solidFill>
                <a:latin typeface="Arial"/>
              </a:defRPr>
            </a:pPr>
            <a:r>
              <a:t>SECURING THE PIPELINE</a:t>
            </a:r>
          </a:p>
          <a:p>
            <a:pPr>
              <a:spcAft>
                <a:spcPts val="600"/>
              </a:spcAft>
              <a:defRPr sz="1300">
                <a:solidFill>
                  <a:srgbClr val="F1F5F9"/>
                </a:solidFill>
                <a:latin typeface="Arial"/>
              </a:defRPr>
            </a:pPr>
            <a:r>
              <a:t>• supply chain provenance: use Cosign cryptographic signing to prevent unauthorized container execution.</a:t>
            </a:r>
          </a:p>
          <a:p>
            <a:pPr>
              <a:spcAft>
                <a:spcPts val="600"/>
              </a:spcAft>
              <a:defRPr sz="1300">
                <a:solidFill>
                  <a:srgbClr val="F1F5F9"/>
                </a:solidFill>
                <a:latin typeface="Arial"/>
              </a:defRPr>
            </a:pPr>
            <a:r>
              <a:t>• Hexa Force Blueprint: delivers a hardened runtime paired with OIDC verified builds.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