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6000" b="1">
                <a:solidFill>
                  <a:srgbClr val="EF4444"/>
                </a:solidFill>
                <a:latin typeface="Trebuchet MS"/>
              </a:defRPr>
            </a:pPr>
            <a:r>
              <a:t>DIRTY COW EXPLOIT</a:t>
            </a:r>
          </a:p>
          <a:p>
            <a:pPr>
              <a:spcAft>
                <a:spcPts val="1800"/>
              </a:spcAft>
              <a:defRPr sz="2800">
                <a:solidFill>
                  <a:srgbClr val="FFFFFF"/>
                </a:solidFill>
                <a:latin typeface="Trebuchet MS"/>
              </a:defRPr>
            </a:pPr>
            <a:r>
              <a:t>Deep-Dive CVE-2016-5195 &amp; Container Security Lab</a:t>
            </a:r>
          </a:p>
          <a:p>
            <a:pPr>
              <a:defRPr sz="1400">
                <a:solidFill>
                  <a:srgbClr val="06B6D4"/>
                </a:solidFill>
                <a:latin typeface="Calibri"/>
              </a:defRPr>
            </a:pPr>
            <a:r>
              <a:t>Presented by Hexa Force | Complete Keyless Signed Container Architectures &amp; Privilege Escalation Mitigation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CA3AF"/>
                </a:solidFill>
                <a:latin typeface="Trebuchet MS"/>
              </a:defRPr>
            </a:pPr>
            <a:r>
              <a:t>TECHNICAL ASSESSMENT &amp; LAB HANDS-ON DEMONSTRATION  |  HEXA FORCE SECURITY SERIES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HEXA FORCE PRESENTATION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Trebuchet MS"/>
              </a:defRPr>
            </a:pPr>
            <a:r>
              <a:t>Briefing &amp; Laboratory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0292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•  01. Executive Overview &amp; Timeline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Key definitions, discovery context, and CVSS severity metrics.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•  02. Linux Kernel Memory Subsystems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Virtual addressing, paging memory layouts, and the Copy-On-Write design.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•  03. Mechanics of the Vulnerability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Deep dive into the race condition, madvise(), and /proc/self/mem writes.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•  04. Exploitation inside Containers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Container-host kernel sharing architecture and threat models.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645920"/>
            <a:ext cx="521208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•  05. Hands-on Docker Lab Showcase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Code walkthrough of dirtyc0w.c and Docker environment architecture.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•  06. Execution &amp; Diagnostic Walkthrough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Step-by-step reproduction guide and interpreting kernel safety outcomes.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•  07. Real-world Exploits &amp; Impacts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Explaining Android root, container breakout vectors, and server escapes.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•  08. Defence, Mitigation &amp; Remediation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Kernel patch overview, container hardening configurations, and isolation rules.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VULNERABILITY TECHNICAL BRIEFING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Trebuchet MS"/>
              </a:defRPr>
            </a:pPr>
            <a:r>
              <a:t>Executive Summary: CVE-2016-5195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•  Core Vulnerability Definition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A kernel-level race condition in Linux's Copy-on-Write (COW) memory subsystem.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Bypasses traditional memory access control, allowing read-only files to be overwritten.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•  The Severity Metric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CVSS v3 Severity Score: 7.8 (High) / CVSS v2 Score: 10.0 (Critical).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Highly reliable, zero complex requirements, zero-privilege prerequisites.</a:t>
            </a:r>
          </a:p>
          <a:p>
            <a:pPr>
              <a:spcAft>
                <a:spcPts val="1200"/>
              </a:spcAft>
              <a:defRPr sz="1600" b="1">
                <a:solidFill>
                  <a:srgbClr val="EF4444"/>
                </a:solidFill>
                <a:latin typeface="Calibri"/>
              </a:defRPr>
            </a:pPr>
            <a:r>
              <a:t>⚠️  Impact Matrix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Grants local privilege escalation to root in seconds.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Leads to full container breakout if host kernels are vulnerable.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•  Wide-ranging Prevalence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Existed in the kernel for 9 years (since v2.6.22) before discovery in Oct 2016.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Impacted virtually every Linux distro, Android, and shared container server.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0" y="1645920"/>
            <a:ext cx="4846320" cy="4389120"/>
          </a:xfrm>
          <a:prstGeom prst="rect">
            <a:avLst/>
          </a:prstGeom>
          <a:solidFill>
            <a:srgbClr val="1F2937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400"/>
              </a:spcAft>
              <a:defRPr sz="1600" b="1">
                <a:solidFill>
                  <a:srgbClr val="FFFFFF"/>
                </a:solidFill>
                <a:latin typeface="Trebuchet MS"/>
              </a:defRPr>
            </a:pPr>
            <a:r>
              <a:t>THREAT LANDSCAPE FACTS</a:t>
            </a:r>
          </a:p>
          <a:p>
            <a:pPr>
              <a:spcAft>
                <a:spcPts val="1000"/>
              </a:spcAft>
              <a:defRPr sz="1100" b="1">
                <a:solidFill>
                  <a:srgbClr val="EF4444"/>
                </a:solidFill>
                <a:latin typeface="Calibri"/>
              </a:defRPr>
            </a:pPr>
            <a:r>
              <a:t>Vulnerability Timeline &amp; Intel</a:t>
            </a:r>
          </a:p>
          <a:p>
            <a:pPr>
              <a:spcAft>
                <a:spcPts val="600"/>
              </a:spcAft>
              <a:defRPr sz="1300">
                <a:solidFill>
                  <a:srgbClr val="9CA3AF"/>
                </a:solidFill>
                <a:latin typeface="Calibri"/>
              </a:defRPr>
            </a:pPr>
            <a:r>
              <a:t>• Discovered by security researcher Phil Oester.</a:t>
            </a:r>
          </a:p>
          <a:p>
            <a:pPr>
              <a:spcAft>
                <a:spcPts val="600"/>
              </a:spcAft>
              <a:defRPr sz="1300">
                <a:solidFill>
                  <a:srgbClr val="9CA3AF"/>
                </a:solidFill>
                <a:latin typeface="Calibri"/>
              </a:defRPr>
            </a:pPr>
            <a:r>
              <a:t>• Discovered actively exploited in-the-wild via packet capture analysis.</a:t>
            </a:r>
          </a:p>
          <a:p>
            <a:pPr>
              <a:spcAft>
                <a:spcPts val="600"/>
              </a:spcAft>
              <a:defRPr sz="1300">
                <a:solidFill>
                  <a:srgbClr val="9CA3AF"/>
                </a:solidFill>
                <a:latin typeface="Calibri"/>
              </a:defRPr>
            </a:pPr>
            <a:r>
              <a:t>• Root cause resides in the memory manager's 'get_user_pages' implementation (mm/gup.c).</a:t>
            </a:r>
          </a:p>
          <a:p>
            <a:pPr>
              <a:spcAft>
                <a:spcPts val="600"/>
              </a:spcAft>
              <a:defRPr sz="1300">
                <a:solidFill>
                  <a:srgbClr val="9CA3AF"/>
                </a:solidFill>
                <a:latin typeface="Calibri"/>
              </a:defRPr>
            </a:pPr>
            <a:r>
              <a:t>• Because virtual servers share a single host OS kernel, a single tenant could take control of the physical server.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TECHNICAL DEEP 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Trebuchet MS"/>
              </a:defRPr>
            </a:pPr>
            <a:r>
              <a:t>Linux Memory Management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•  Virtual Memory Architecture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Applications run in clean virtual address spaces, isolated from the physical hardware.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Memory pages (typically 4KB) map virtual addresses to physical RAM frames.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•  Page Fault Mechanism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When a process requests a page not currently residing in physical RAM, the CPU fires a page fault trap.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The Kernel fault-handler steps in to load the page from disk/swap into RAM.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•  Process Protection Flags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Pages contain permissions: Read (R), Write (W), Execute (X).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Read-only mappings (like shared system libraries) trigger a Segmentation Fault if writes are attempted.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0" y="1645920"/>
            <a:ext cx="4846320" cy="4389120"/>
          </a:xfrm>
          <a:prstGeom prst="rect">
            <a:avLst/>
          </a:prstGeom>
          <a:solidFill>
            <a:srgbClr val="1F293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400"/>
              </a:spcAft>
              <a:defRPr sz="1600" b="1">
                <a:solidFill>
                  <a:srgbClr val="FFFFFF"/>
                </a:solidFill>
                <a:latin typeface="Trebuchet MS"/>
              </a:defRPr>
            </a:pPr>
            <a:r>
              <a:t>MEMORY ISOLATION RULES</a:t>
            </a:r>
          </a:p>
          <a:p>
            <a:pPr>
              <a:spcAft>
                <a:spcPts val="1000"/>
              </a:spcAft>
              <a:defRPr sz="1100" b="1">
                <a:solidFill>
                  <a:srgbClr val="06B6D4"/>
                </a:solidFill>
                <a:latin typeface="Calibri"/>
              </a:defRPr>
            </a:pPr>
            <a:r>
              <a:t>Core Kernel Rules</a:t>
            </a:r>
          </a:p>
          <a:p>
            <a:pPr>
              <a:spcAft>
                <a:spcPts val="600"/>
              </a:spcAft>
              <a:defRPr sz="1300">
                <a:solidFill>
                  <a:srgbClr val="9CA3AF"/>
                </a:solidFill>
                <a:latin typeface="Calibri"/>
              </a:defRPr>
            </a:pPr>
            <a:r>
              <a:t>• Process Separation: Process A cannot read or write Process B's memory space.</a:t>
            </a:r>
          </a:p>
          <a:p>
            <a:pPr>
              <a:spcAft>
                <a:spcPts val="600"/>
              </a:spcAft>
              <a:defRPr sz="1300">
                <a:solidFill>
                  <a:srgbClr val="9CA3AF"/>
                </a:solidFill>
                <a:latin typeface="Calibri"/>
              </a:defRPr>
            </a:pPr>
            <a:r>
              <a:t>• Kernel Space Protection: User space programs can never directly modify kernel memory rings.</a:t>
            </a:r>
          </a:p>
          <a:p>
            <a:pPr>
              <a:spcAft>
                <a:spcPts val="600"/>
              </a:spcAft>
              <a:defRPr sz="1300">
                <a:solidFill>
                  <a:srgbClr val="9CA3AF"/>
                </a:solidFill>
                <a:latin typeface="Calibri"/>
              </a:defRPr>
            </a:pPr>
            <a:r>
              <a:t>• Shared Memory Optimization: Multiple processes reading the exact same binaries share physical memory to save space.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MEMORY OPTIMIZATION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Trebuchet MS"/>
              </a:defRPr>
            </a:pPr>
            <a:r>
              <a:t>The Copy-On-Write (COW)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•  The Efficiency Problem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When a process forks, copying all memory pages instantly is expensive and slow.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•  The Copy-On-Write Optimization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Parent and child initially point to the identical physical page structures.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The page flags are marked as read-only for both processes.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•  Triggers on Write Action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When either process attempts to write to the page, the CPU traps a page fault.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The kernel intercepts, creates an independent copy of the page in physical memory, updates the writing process's page table, and marks it as writable.</a:t>
            </a:r>
          </a:p>
          <a:p>
            <a:pPr>
              <a:spcAft>
                <a:spcPts val="1200"/>
              </a:spcAft>
              <a:defRPr sz="1600" b="1">
                <a:solidFill>
                  <a:srgbClr val="06B6D4"/>
                </a:solidFill>
                <a:latin typeface="Calibri"/>
              </a:defRPr>
            </a:pPr>
            <a:r>
              <a:t>⚡  Safe &amp; Efficient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Modifying process gets its private modified page; other processes continue safely sharing the original unmodified page cache.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0" y="1645920"/>
            <a:ext cx="4846320" cy="4389120"/>
          </a:xfrm>
          <a:prstGeom prst="rect">
            <a:avLst/>
          </a:prstGeom>
          <a:solidFill>
            <a:srgbClr val="1F293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400"/>
              </a:spcAft>
              <a:defRPr sz="1600" b="1">
                <a:solidFill>
                  <a:srgbClr val="FFFFFF"/>
                </a:solidFill>
                <a:latin typeface="Trebuchet MS"/>
              </a:defRPr>
            </a:pPr>
            <a:r>
              <a:t>THE NORMAL COW FLOW</a:t>
            </a:r>
          </a:p>
          <a:p>
            <a:pPr>
              <a:spcAft>
                <a:spcPts val="1000"/>
              </a:spcAft>
              <a:defRPr sz="1100" b="1">
                <a:solidFill>
                  <a:srgbClr val="06B6D4"/>
                </a:solidFill>
                <a:latin typeface="Calibri"/>
              </a:defRPr>
            </a:pPr>
            <a:r>
              <a:t>Kernel Fault Sequencer</a:t>
            </a:r>
          </a:p>
          <a:p>
            <a:pPr>
              <a:spcAft>
                <a:spcPts val="600"/>
              </a:spcAft>
              <a:defRPr sz="1300">
                <a:solidFill>
                  <a:srgbClr val="9CA3AF"/>
                </a:solidFill>
                <a:latin typeface="Calibri"/>
              </a:defRPr>
            </a:pPr>
            <a:r>
              <a:t>• Step 1: Write request on read-only shared page.</a:t>
            </a:r>
          </a:p>
          <a:p>
            <a:pPr>
              <a:spcAft>
                <a:spcPts val="600"/>
              </a:spcAft>
              <a:defRPr sz="1300">
                <a:solidFill>
                  <a:srgbClr val="9CA3AF"/>
                </a:solidFill>
                <a:latin typeface="Calibri"/>
              </a:defRPr>
            </a:pPr>
            <a:r>
              <a:t>• Step 2: CPU raises Page Fault exception.</a:t>
            </a:r>
          </a:p>
          <a:p>
            <a:pPr>
              <a:spcAft>
                <a:spcPts val="600"/>
              </a:spcAft>
              <a:defRPr sz="1300">
                <a:solidFill>
                  <a:srgbClr val="9CA3AF"/>
                </a:solidFill>
                <a:latin typeface="Calibri"/>
              </a:defRPr>
            </a:pPr>
            <a:r>
              <a:t>• Step 3: Kernel allocates a new physical frame.</a:t>
            </a:r>
          </a:p>
          <a:p>
            <a:pPr>
              <a:spcAft>
                <a:spcPts val="600"/>
              </a:spcAft>
              <a:defRPr sz="1300">
                <a:solidFill>
                  <a:srgbClr val="9CA3AF"/>
                </a:solidFill>
                <a:latin typeface="Calibri"/>
              </a:defRPr>
            </a:pPr>
            <a:r>
              <a:t>• Step 4: Kernel copies original data to the new frame.</a:t>
            </a:r>
          </a:p>
          <a:p>
            <a:pPr>
              <a:spcAft>
                <a:spcPts val="600"/>
              </a:spcAft>
              <a:defRPr sz="1300">
                <a:solidFill>
                  <a:srgbClr val="9CA3AF"/>
                </a:solidFill>
                <a:latin typeface="Calibri"/>
              </a:defRPr>
            </a:pPr>
            <a:r>
              <a:t>• Step 5: Updates Page Table entries to the new frame.</a:t>
            </a:r>
          </a:p>
          <a:p>
            <a:pPr>
              <a:spcAft>
                <a:spcPts val="600"/>
              </a:spcAft>
              <a:defRPr sz="1300">
                <a:solidFill>
                  <a:srgbClr val="9CA3AF"/>
                </a:solidFill>
                <a:latin typeface="Calibri"/>
              </a:defRPr>
            </a:pPr>
            <a:r>
              <a:t>• Step 6: Flushes TLB cache, changes permission to Writeable, and completes write.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CRITICAL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Trebuchet MS"/>
              </a:defRPr>
            </a:pPr>
            <a:r>
              <a:t>The Vulnerability: COW Broken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•  Breaking the COW Sequence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The kernel handles COW page table changes in multiple separate, non-atomic steps.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If another system call changes page states in the middle of a COW process, the kernel's state machine loses track.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•  The Attacker's Interruption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An attacker starts a write process to a private mapping of a read-only file.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Simultaneously, a second thread aggressively calls madvise(..., MADV_DONTNEED).</a:t>
            </a:r>
          </a:p>
          <a:p>
            <a:pPr>
              <a:spcAft>
                <a:spcPts val="1200"/>
              </a:spcAft>
              <a:defRPr sz="1600" b="1">
                <a:solidFill>
                  <a:srgbClr val="EF4444"/>
                </a:solidFill>
                <a:latin typeface="Calibri"/>
              </a:defRPr>
            </a:pPr>
            <a:r>
              <a:t>⚠️  Kernel Desynchronization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madvise strips away the mapping just as the write handler finishes the page fault, causing the kernel to mistake the original, read-only cache page for the new COW page.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Result: The write bypasses all permissions and modifies the immutable file on disk.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0" y="1645920"/>
            <a:ext cx="4846320" cy="4389120"/>
          </a:xfrm>
          <a:prstGeom prst="rect">
            <a:avLst/>
          </a:prstGeom>
          <a:solidFill>
            <a:srgbClr val="1F2937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400"/>
              </a:spcAft>
              <a:defRPr sz="1600" b="1">
                <a:solidFill>
                  <a:srgbClr val="FFFFFF"/>
                </a:solidFill>
                <a:latin typeface="Trebuchet MS"/>
              </a:defRPr>
            </a:pPr>
            <a:r>
              <a:t>VULNERABILITY MECHANICS</a:t>
            </a:r>
          </a:p>
          <a:p>
            <a:pPr>
              <a:spcAft>
                <a:spcPts val="1000"/>
              </a:spcAft>
              <a:defRPr sz="1100" b="1">
                <a:solidFill>
                  <a:srgbClr val="EF4444"/>
                </a:solidFill>
                <a:latin typeface="Calibri"/>
              </a:defRPr>
            </a:pPr>
            <a:r>
              <a:t>Get User Pages Race</a:t>
            </a:r>
          </a:p>
          <a:p>
            <a:pPr>
              <a:spcAft>
                <a:spcPts val="600"/>
              </a:spcAft>
              <a:defRPr sz="1300">
                <a:solidFill>
                  <a:srgbClr val="9CA3AF"/>
                </a:solidFill>
                <a:latin typeface="Calibri"/>
              </a:defRPr>
            </a:pPr>
            <a:r>
              <a:t>• During a write, the kernel calls get_user_pages() to find the page frame.</a:t>
            </a:r>
          </a:p>
          <a:p>
            <a:pPr>
              <a:spcAft>
                <a:spcPts val="600"/>
              </a:spcAft>
              <a:defRPr sz="1300">
                <a:solidFill>
                  <a:srgbClr val="9CA3AF"/>
                </a:solidFill>
                <a:latin typeface="Calibri"/>
              </a:defRPr>
            </a:pPr>
            <a:r>
              <a:t>• The first search finds the read-only page and determines COW is required (returns flag FOLL_WRITE missing).</a:t>
            </a:r>
          </a:p>
          <a:p>
            <a:pPr>
              <a:spcAft>
                <a:spcPts val="600"/>
              </a:spcAft>
              <a:defRPr sz="1300">
                <a:solidFill>
                  <a:srgbClr val="9CA3AF"/>
                </a:solidFill>
                <a:latin typeface="Calibri"/>
              </a:defRPr>
            </a:pPr>
            <a:r>
              <a:t>• The kernel copies the page, but madvise(MADV_DONTNEED) frees the new page tables.</a:t>
            </a:r>
          </a:p>
          <a:p>
            <a:pPr>
              <a:spcAft>
                <a:spcPts val="600"/>
              </a:spcAft>
              <a:defRPr sz="1300">
                <a:solidFill>
                  <a:srgbClr val="9CA3AF"/>
                </a:solidFill>
                <a:latin typeface="Calibri"/>
              </a:defRPr>
            </a:pPr>
            <a:r>
              <a:t>• A retry occurs: the kernel fails to see the new page, fallback gets the original page, and incorrectly writes to it with write flags still active.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VULNERABILITY 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Trebuchet MS"/>
              </a:defRPr>
            </a:pPr>
            <a:r>
              <a:t>Key System Calls &amp;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•  mmap() System Call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Maps files directly into a process's virtual memory region.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Exploit uses MAP_PRIVATE: changes should be local and not write back to disk.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•  madvise(..., MADV_DONTNEED)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Tells the kernel: 'I do not need this memory range anymore; release associated resources and free the backing physical pages.'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Forces the next read/write to look up the original page tables.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•  /proc/self/mem Interface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Virtual file representing the process's own virtual memory.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Writing here allows a program to bypass some hardware-level CPU write-protection registers, shifting validation onto kernel software check logic.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0" y="1645920"/>
            <a:ext cx="4846320" cy="4389120"/>
          </a:xfrm>
          <a:prstGeom prst="rect">
            <a:avLst/>
          </a:prstGeom>
          <a:solidFill>
            <a:srgbClr val="1F2937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>
              <a:spcAft>
                <a:spcPts val="400"/>
              </a:spcAft>
              <a:defRPr sz="1100">
                <a:solidFill>
                  <a:srgbClr val="9CA3AF"/>
                </a:solidFill>
                <a:latin typeface="Consolas"/>
              </a:defRPr>
            </a:pPr>
            <a:r>
              <a:t>// 1. Private mapping of read-only file</a:t>
            </a:r>
          </a:p>
          <a:p>
            <a:pPr algn="l">
              <a:spcAft>
                <a:spcPts val="400"/>
              </a:spcAft>
              <a:defRPr sz="1100">
                <a:solidFill>
                  <a:srgbClr val="06B6D4"/>
                </a:solidFill>
                <a:latin typeface="Consolas"/>
              </a:defRPr>
            </a:pPr>
            <a:r>
              <a:t>map = mmap(NULL, size, PROT_READ,</a:t>
            </a:r>
          </a:p>
          <a:p>
            <a:pPr algn="l">
              <a:spcAft>
                <a:spcPts val="400"/>
              </a:spcAft>
              <a:defRPr sz="1100">
                <a:solidFill>
                  <a:srgbClr val="06B6D4"/>
                </a:solidFill>
                <a:latin typeface="Consolas"/>
              </a:defRPr>
            </a:pPr>
            <a:r>
              <a:t>           MAP_PRIVATE, fd, 0);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</a:p>
          <a:p>
            <a:pPr algn="l">
              <a:spcAft>
                <a:spcPts val="400"/>
              </a:spcAft>
              <a:defRPr sz="1100">
                <a:solidFill>
                  <a:srgbClr val="9CA3AF"/>
                </a:solidFill>
                <a:latin typeface="Consolas"/>
              </a:defRPr>
            </a:pPr>
            <a:r>
              <a:t>// 2. Thread A: Discard mapped pages</a:t>
            </a:r>
          </a:p>
          <a:p>
            <a:pPr algn="l">
              <a:spcAft>
                <a:spcPts val="400"/>
              </a:spcAft>
              <a:defRPr sz="1100">
                <a:solidFill>
                  <a:srgbClr val="EF4444"/>
                </a:solidFill>
                <a:latin typeface="Consolas"/>
              </a:defRPr>
            </a:pPr>
            <a:r>
              <a:t>void *madviseThread(void *arg) {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  while(1) {</a:t>
            </a:r>
          </a:p>
          <a:p>
            <a:pPr algn="l">
              <a:spcAft>
                <a:spcPts val="400"/>
              </a:spcAft>
              <a:defRPr sz="1100">
                <a:solidFill>
                  <a:srgbClr val="EF4444"/>
                </a:solidFill>
                <a:latin typeface="Consolas"/>
              </a:defRPr>
            </a:pPr>
            <a:r>
              <a:t>    madvise(map, 100, MADV_DONTNEED);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  }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}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</a:p>
          <a:p>
            <a:pPr algn="l">
              <a:spcAft>
                <a:spcPts val="400"/>
              </a:spcAft>
              <a:defRPr sz="1100">
                <a:solidFill>
                  <a:srgbClr val="9CA3AF"/>
                </a:solidFill>
                <a:latin typeface="Consolas"/>
              </a:defRPr>
            </a:pPr>
            <a:r>
              <a:t>// 3. Thread B: Write via procfs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void *writeThread(void *arg) {</a:t>
            </a:r>
          </a:p>
          <a:p>
            <a:pPr algn="l">
              <a:spcAft>
                <a:spcPts val="400"/>
              </a:spcAft>
              <a:defRPr sz="1100">
                <a:solidFill>
                  <a:srgbClr val="EF4444"/>
                </a:solidFill>
                <a:latin typeface="Consolas"/>
              </a:defRPr>
            </a:pPr>
            <a:r>
              <a:t>  int f = open("/proc/self/mem", O_RDWR);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  while(1) {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    lseek(f, map, SEEK_SET);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    write(f, "PAYLOAD", 7);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  }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THE EXPLOIT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Trebuchet MS"/>
              </a:defRPr>
            </a:pPr>
            <a:r>
              <a:t>Step-by-Step Race Condition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3291840" cy="4389120"/>
          </a:xfrm>
          <a:prstGeom prst="rect">
            <a:avLst/>
          </a:prstGeom>
          <a:solidFill>
            <a:srgbClr val="1F293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400"/>
              </a:spcAft>
              <a:defRPr sz="1600" b="1">
                <a:solidFill>
                  <a:srgbClr val="FFFFFF"/>
                </a:solidFill>
                <a:latin typeface="Trebuchet MS"/>
              </a:defRPr>
            </a:pPr>
            <a:r>
              <a:t>1. INITIATION PHASE</a:t>
            </a:r>
          </a:p>
          <a:p>
            <a:pPr>
              <a:spcAft>
                <a:spcPts val="1000"/>
              </a:spcAft>
              <a:defRPr sz="1100" b="1">
                <a:solidFill>
                  <a:srgbClr val="06B6D4"/>
                </a:solidFill>
                <a:latin typeface="Calibri"/>
              </a:defRPr>
            </a:pPr>
            <a:r>
              <a:t>Threads Setup</a:t>
            </a:r>
          </a:p>
          <a:p>
            <a:pPr>
              <a:spcAft>
                <a:spcPts val="600"/>
              </a:spcAft>
              <a:defRPr sz="1300">
                <a:solidFill>
                  <a:srgbClr val="9CA3AF"/>
                </a:solidFill>
                <a:latin typeface="Calibri"/>
              </a:defRPr>
            </a:pPr>
            <a:r>
              <a:t>• Process maps 'target.txt' (Root-owned, Read-only) using mmap() privately.</a:t>
            </a:r>
          </a:p>
          <a:p>
            <a:pPr>
              <a:spcAft>
                <a:spcPts val="600"/>
              </a:spcAft>
              <a:defRPr sz="1300">
                <a:solidFill>
                  <a:srgbClr val="9CA3AF"/>
                </a:solidFill>
                <a:latin typeface="Calibri"/>
              </a:defRPr>
            </a:pPr>
            <a:r>
              <a:t>• Thread A loops continuously calling madvise(map, 100, MADV_DONTNEED).</a:t>
            </a:r>
          </a:p>
          <a:p>
            <a:pPr>
              <a:spcAft>
                <a:spcPts val="600"/>
              </a:spcAft>
              <a:defRPr sz="1300">
                <a:solidFill>
                  <a:srgbClr val="9CA3AF"/>
                </a:solidFill>
                <a:latin typeface="Calibri"/>
              </a:defRPr>
            </a:pPr>
            <a:r>
              <a:t>• Thread B loops calling write() on '/proc/self/mem' at the mapped address.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1645920"/>
            <a:ext cx="3291840" cy="4389120"/>
          </a:xfrm>
          <a:prstGeom prst="rect">
            <a:avLst/>
          </a:prstGeom>
          <a:solidFill>
            <a:srgbClr val="1F2937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400"/>
              </a:spcAft>
              <a:defRPr sz="1600" b="1">
                <a:solidFill>
                  <a:srgbClr val="FFFFFF"/>
                </a:solidFill>
                <a:latin typeface="Trebuchet MS"/>
              </a:defRPr>
            </a:pPr>
            <a:r>
              <a:t>2. THE INTERCEPT RACE</a:t>
            </a:r>
          </a:p>
          <a:p>
            <a:pPr>
              <a:spcAft>
                <a:spcPts val="1000"/>
              </a:spcAft>
              <a:defRPr sz="1100" b="1">
                <a:solidFill>
                  <a:srgbClr val="EF4444"/>
                </a:solidFill>
                <a:latin typeface="Calibri"/>
              </a:defRPr>
            </a:pPr>
            <a:r>
              <a:t>Kernel Processing</a:t>
            </a:r>
          </a:p>
          <a:p>
            <a:pPr>
              <a:spcAft>
                <a:spcPts val="600"/>
              </a:spcAft>
              <a:defRPr sz="1300">
                <a:solidFill>
                  <a:srgbClr val="9CA3AF"/>
                </a:solidFill>
                <a:latin typeface="Calibri"/>
              </a:defRPr>
            </a:pPr>
            <a:r>
              <a:t>• Thread B triggers a page fault because mapping is marked read-only.</a:t>
            </a:r>
          </a:p>
          <a:p>
            <a:pPr>
              <a:spcAft>
                <a:spcPts val="600"/>
              </a:spcAft>
              <a:defRPr sz="1300">
                <a:solidFill>
                  <a:srgbClr val="9CA3AF"/>
                </a:solidFill>
                <a:latin typeface="Calibri"/>
              </a:defRPr>
            </a:pPr>
            <a:r>
              <a:t>• Kernel allocates a new physical frame and performs a Copy-On-Write (COW).</a:t>
            </a:r>
          </a:p>
          <a:p>
            <a:pPr>
              <a:spcAft>
                <a:spcPts val="600"/>
              </a:spcAft>
              <a:defRPr sz="1300">
                <a:solidFill>
                  <a:srgbClr val="9CA3AF"/>
                </a:solidFill>
                <a:latin typeface="Calibri"/>
              </a:defRPr>
            </a:pPr>
            <a:r>
              <a:t>• Before Thread B updates the page table pointers, Thread A executes madvise().</a:t>
            </a:r>
          </a:p>
          <a:p>
            <a:pPr>
              <a:spcAft>
                <a:spcPts val="600"/>
              </a:spcAft>
              <a:defRPr sz="1300">
                <a:solidFill>
                  <a:srgbClr val="9CA3AF"/>
                </a:solidFill>
                <a:latin typeface="Calibri"/>
              </a:defRPr>
            </a:pPr>
            <a:r>
              <a:t>• Kernel frees the page table entries for the new COW copy immediately.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0" y="1645920"/>
            <a:ext cx="3291840" cy="4389120"/>
          </a:xfrm>
          <a:prstGeom prst="rect">
            <a:avLst/>
          </a:prstGeom>
          <a:solidFill>
            <a:srgbClr val="1F2937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400"/>
              </a:spcAft>
              <a:defRPr sz="1600" b="1">
                <a:solidFill>
                  <a:srgbClr val="FFFFFF"/>
                </a:solidFill>
                <a:latin typeface="Trebuchet MS"/>
              </a:defRPr>
            </a:pPr>
            <a:r>
              <a:t>3. THE HIJACK</a:t>
            </a:r>
          </a:p>
          <a:p>
            <a:pPr>
              <a:spcAft>
                <a:spcPts val="1000"/>
              </a:spcAft>
              <a:defRPr sz="1100" b="1">
                <a:solidFill>
                  <a:srgbClr val="EF4444"/>
                </a:solidFill>
                <a:latin typeface="Calibri"/>
              </a:defRPr>
            </a:pPr>
            <a:r>
              <a:t>Direct Disk Write</a:t>
            </a:r>
          </a:p>
          <a:p>
            <a:pPr>
              <a:spcAft>
                <a:spcPts val="600"/>
              </a:spcAft>
              <a:defRPr sz="1300">
                <a:solidFill>
                  <a:srgbClr val="9CA3AF"/>
                </a:solidFill>
                <a:latin typeface="Calibri"/>
              </a:defRPr>
            </a:pPr>
            <a:r>
              <a:t>• Kernel retries write loop, but the page tables are missing.</a:t>
            </a:r>
          </a:p>
          <a:p>
            <a:pPr>
              <a:spcAft>
                <a:spcPts val="600"/>
              </a:spcAft>
              <a:defRPr sz="1300">
                <a:solidFill>
                  <a:srgbClr val="9CA3AF"/>
                </a:solidFill>
                <a:latin typeface="Calibri"/>
              </a:defRPr>
            </a:pPr>
            <a:r>
              <a:t>• Kernel assumes COW was already processed, resolving to the original cached page.</a:t>
            </a:r>
          </a:p>
          <a:p>
            <a:pPr>
              <a:spcAft>
                <a:spcPts val="600"/>
              </a:spcAft>
              <a:defRPr sz="1300">
                <a:solidFill>
                  <a:srgbClr val="9CA3AF"/>
                </a:solidFill>
                <a:latin typeface="Calibri"/>
              </a:defRPr>
            </a:pPr>
            <a:r>
              <a:t>• Thread B writes the payload directly into the original page cache.</a:t>
            </a:r>
          </a:p>
          <a:p>
            <a:pPr>
              <a:spcAft>
                <a:spcPts val="600"/>
              </a:spcAft>
              <a:defRPr sz="1300">
                <a:solidFill>
                  <a:srgbClr val="9CA3AF"/>
                </a:solidFill>
                <a:latin typeface="Calibri"/>
              </a:defRPr>
            </a:pPr>
            <a:r>
              <a:t>• Kernel flushes dirty cache to disk, permanently altering the read-only target.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CONTAINER SECURITY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Trebuchet MS"/>
              </a:defRPr>
            </a:pPr>
            <a:r>
              <a:t>Dirty COW inside Docker Containers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•  The Kernel Sharing Reality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Docker containers share the host Linux kernel directly.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Containers are NOT hypervisor-isolated virtual machines.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•  Isolation Boundaries Bypassed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Traditional Docker namespaces separate filesystems, users, and networks.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But a kernel flaw like Dirty COW breaks the core hypervisor-like assumption.</a:t>
            </a:r>
          </a:p>
          <a:p>
            <a:pPr>
              <a:spcAft>
                <a:spcPts val="1200"/>
              </a:spcAft>
              <a:defRPr sz="1600" b="1">
                <a:solidFill>
                  <a:srgbClr val="EF4444"/>
                </a:solidFill>
                <a:latin typeface="Calibri"/>
              </a:defRPr>
            </a:pPr>
            <a:r>
              <a:t>⚠️  Container Vulnerability Scope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Even if the container has strict root-mapping isolation (User Namespaces disabled), an unprivileged user inside can exploit the kernel.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The exploit directly corrupts physical page cache owned by the host operating system.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0" y="1645920"/>
            <a:ext cx="4846320" cy="4389120"/>
          </a:xfrm>
          <a:prstGeom prst="rect">
            <a:avLst/>
          </a:prstGeom>
          <a:solidFill>
            <a:srgbClr val="1F2937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400"/>
              </a:spcAft>
              <a:defRPr sz="1600" b="1">
                <a:solidFill>
                  <a:srgbClr val="FFFFFF"/>
                </a:solidFill>
                <a:latin typeface="Trebuchet MS"/>
              </a:defRPr>
            </a:pPr>
            <a:r>
              <a:t>HOST VS. GUEST KERNEL SHARING</a:t>
            </a:r>
          </a:p>
          <a:p>
            <a:pPr>
              <a:spcAft>
                <a:spcPts val="1000"/>
              </a:spcAft>
              <a:defRPr sz="1100" b="1">
                <a:solidFill>
                  <a:srgbClr val="EF4444"/>
                </a:solidFill>
                <a:latin typeface="Calibri"/>
              </a:defRPr>
            </a:pPr>
            <a:r>
              <a:t>Architectural Truths</a:t>
            </a:r>
          </a:p>
          <a:p>
            <a:pPr>
              <a:spcAft>
                <a:spcPts val="600"/>
              </a:spcAft>
              <a:defRPr sz="1300">
                <a:solidFill>
                  <a:srgbClr val="9CA3AF"/>
                </a:solidFill>
                <a:latin typeface="Calibri"/>
              </a:defRPr>
            </a:pPr>
            <a:r>
              <a:t>• Kernel Shared: Yes. Bypassing namespace separation completely.</a:t>
            </a:r>
          </a:p>
          <a:p>
            <a:pPr>
              <a:spcAft>
                <a:spcPts val="600"/>
              </a:spcAft>
              <a:defRPr sz="1300">
                <a:solidFill>
                  <a:srgbClr val="9CA3AF"/>
                </a:solidFill>
                <a:latin typeface="Calibri"/>
              </a:defRPr>
            </a:pPr>
            <a:r>
              <a:t>• Host Filesystem Exposure: If host-level files are mapped privately, the container user can modify files outside their boundary.</a:t>
            </a:r>
          </a:p>
          <a:p>
            <a:pPr>
              <a:spcAft>
                <a:spcPts val="600"/>
              </a:spcAft>
              <a:defRPr sz="1300">
                <a:solidFill>
                  <a:srgbClr val="9CA3AF"/>
                </a:solidFill>
                <a:latin typeface="Calibri"/>
              </a:defRPr>
            </a:pPr>
            <a:r>
              <a:t>• Privilege Escalation: Low-privilege container user -&gt; Root-level container user -&gt; Host system root control.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THREAT PATHWAY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Trebuchet MS"/>
              </a:defRPr>
            </a:pPr>
            <a:r>
              <a:t>Privilege Escalation to Container Escape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•  Attack Stage 1: Container Escalation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Attacker gets low-privilege shell inside a container (e.g. web app exploit).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Compiles and runs Dirty COW targeting `/etc/passwd` or `/etc/shadow`.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Modifies root credentials inside the container to gain container root.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•  Attack Stage 2: Container Breakout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Container root searches for shared host volumes or mapped host files.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Attacker overwrites host-owned binaries (e.g., cron jobs, systemd services) exposed via mount points.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•  Attack Stage 3: Full Host Takeover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The host executes the modified system-level binary as root.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Reverse shell triggers, giving the attacker root command-line access to the host server.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0" y="1645920"/>
            <a:ext cx="4846320" cy="4389120"/>
          </a:xfrm>
          <a:prstGeom prst="rect">
            <a:avLst/>
          </a:prstGeom>
          <a:solidFill>
            <a:srgbClr val="1F2937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400"/>
              </a:spcAft>
              <a:defRPr sz="1600" b="1">
                <a:solidFill>
                  <a:srgbClr val="FFFFFF"/>
                </a:solidFill>
                <a:latin typeface="Trebuchet MS"/>
              </a:defRPr>
            </a:pPr>
            <a:r>
              <a:t>COMMON ATTACK PATHWAYS</a:t>
            </a:r>
          </a:p>
          <a:p>
            <a:pPr>
              <a:spcAft>
                <a:spcPts val="1000"/>
              </a:spcAft>
              <a:defRPr sz="1100" b="1">
                <a:solidFill>
                  <a:srgbClr val="EF4444"/>
                </a:solidFill>
                <a:latin typeface="Calibri"/>
              </a:defRPr>
            </a:pPr>
            <a:r>
              <a:t>Exploitation Flowchart</a:t>
            </a:r>
          </a:p>
          <a:p>
            <a:pPr>
              <a:spcAft>
                <a:spcPts val="600"/>
              </a:spcAft>
              <a:defRPr sz="1300">
                <a:solidFill>
                  <a:srgbClr val="9CA3AF"/>
                </a:solidFill>
                <a:latin typeface="Calibri"/>
              </a:defRPr>
            </a:pPr>
            <a:r>
              <a:t>• 1. Web Exploit (RCE) -&gt; Unprivileged Shell</a:t>
            </a:r>
          </a:p>
          <a:p>
            <a:pPr>
              <a:spcAft>
                <a:spcPts val="600"/>
              </a:spcAft>
              <a:defRPr sz="1300">
                <a:solidFill>
                  <a:srgbClr val="9CA3AF"/>
                </a:solidFill>
                <a:latin typeface="Calibri"/>
              </a:defRPr>
            </a:pPr>
            <a:r>
              <a:t>• 2. Dirty COW -&gt; Write root-owned read-only configuration inside container.</a:t>
            </a:r>
          </a:p>
          <a:p>
            <a:pPr>
              <a:spcAft>
                <a:spcPts val="600"/>
              </a:spcAft>
              <a:defRPr sz="1300">
                <a:solidFill>
                  <a:srgbClr val="9CA3AF"/>
                </a:solidFill>
                <a:latin typeface="Calibri"/>
              </a:defRPr>
            </a:pPr>
            <a:r>
              <a:t>• 3. Local Privilege Escalation -&gt; Root in Container.</a:t>
            </a:r>
          </a:p>
          <a:p>
            <a:pPr>
              <a:spcAft>
                <a:spcPts val="600"/>
              </a:spcAft>
              <a:defRPr sz="1300">
                <a:solidFill>
                  <a:srgbClr val="9CA3AF"/>
                </a:solidFill>
                <a:latin typeface="Calibri"/>
              </a:defRPr>
            </a:pPr>
            <a:r>
              <a:t>• 4. Escape: Modify shared Unix socket (e.g., docker.sock) or overwrite host binaries via mounts.</a:t>
            </a:r>
          </a:p>
          <a:p>
            <a:pPr>
              <a:spcAft>
                <a:spcPts val="600"/>
              </a:spcAft>
              <a:defRPr sz="1300">
                <a:solidFill>
                  <a:srgbClr val="9CA3AF"/>
                </a:solidFill>
                <a:latin typeface="Calibri"/>
              </a:defRPr>
            </a:pPr>
            <a:r>
              <a:t>• 5. Complete Host Infrastructure Compromise.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CODE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Trebuchet MS"/>
              </a:defRPr>
            </a:pPr>
            <a:r>
              <a:t>Exploit Implementation: C Code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•  Exploit Core Structure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Uses the native POSIX threads library (`pthread.h`) for concurrent race loops.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•  The Mapping Setup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File mapped with `MAP_PRIVATE` and `PROT_READ` options.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Guarantees the system will reject normal writes at compile/run time.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•  The Thread Race Loop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Runs millions of iterations of `madvise` and `write` to guarantee intercepting a page fault.</a:t>
            </a:r>
          </a:p>
          <a:p>
            <a:pPr>
              <a:spcAft>
                <a:spcPts val="1200"/>
              </a:spcAft>
              <a:defRPr sz="1600" b="1">
                <a:solidFill>
                  <a:srgbClr val="06B6D4"/>
                </a:solidFill>
                <a:latin typeface="Calibri"/>
              </a:defRPr>
            </a:pPr>
            <a:r>
              <a:t>⚡  Simple yet Devastating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Less than 120 lines of C code are needed to reliably compromise standard operating systems.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0" y="1645920"/>
            <a:ext cx="4846320" cy="4389120"/>
          </a:xfrm>
          <a:prstGeom prst="rect">
            <a:avLst/>
          </a:prstGeom>
          <a:solidFill>
            <a:srgbClr val="1F2937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>
              <a:spcAft>
                <a:spcPts val="400"/>
              </a:spcAft>
              <a:defRPr sz="1100">
                <a:solidFill>
                  <a:srgbClr val="9CA3AF"/>
                </a:solidFill>
                <a:latin typeface="Consolas"/>
              </a:defRPr>
            </a:pPr>
            <a:r>
              <a:t>// Compiling the exploit with pthread support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gcc -pthread dirtyc0w.c -o dirtyc0w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</a:p>
          <a:p>
            <a:pPr algn="l">
              <a:spcAft>
                <a:spcPts val="400"/>
              </a:spcAft>
              <a:defRPr sz="1100">
                <a:solidFill>
                  <a:srgbClr val="9CA3AF"/>
                </a:solidFill>
                <a:latin typeface="Consolas"/>
              </a:defRPr>
            </a:pPr>
            <a:r>
              <a:t>// Core C Race Synchronization Block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void *procSelfMemThread(void *arg) {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  char *str = (char *)arg;</a:t>
            </a:r>
          </a:p>
          <a:p>
            <a:pPr algn="l">
              <a:spcAft>
                <a:spcPts val="400"/>
              </a:spcAft>
              <a:defRPr sz="1100">
                <a:solidFill>
                  <a:srgbClr val="EF4444"/>
                </a:solidFill>
                <a:latin typeface="Consolas"/>
              </a:defRPr>
            </a:pPr>
            <a:r>
              <a:t>  int f = open("/proc/self/mem", O_RDWR);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  for(int i = 0; i &lt; 10000000; i++) {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    lseek(f, (uintptr_t)map, SEEK_SET);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    write(f, str, strlen(str));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  }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}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</a:p>
          <a:p>
            <a:pPr algn="l">
              <a:spcAft>
                <a:spcPts val="400"/>
              </a:spcAft>
              <a:defRPr sz="1100">
                <a:solidFill>
                  <a:srgbClr val="9CA3AF"/>
                </a:solidFill>
                <a:latin typeface="Consolas"/>
              </a:defRPr>
            </a:pPr>
            <a:r>
              <a:t>// Target Execution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./dirtyc0w /etc/passwd "root:patched..."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DOCKER LAB INFRASTRUCTURE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Trebuchet MS"/>
              </a:defRPr>
            </a:pPr>
            <a:r>
              <a:t>Hands-on Lab: Container Environment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•  Isolated Lab Architecture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Container base: Ubuntu 20.04 equipped with standard compile tools.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Includes a low-privilege user named `victim` (UID: 1000).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•  Immutable Target Configuration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A file `/var/secret/target.txt` owned by `root:root` with permissions `444` (Read-only for all).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Contains the secure flag: 'THIS_IS_A_SECRET_KEY_THAT_IS_READ_ONLY'.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•  Demonstration Script (`run_demo.sh`)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Automates environment diagnosis.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Compiles and runs the exploit C code as the unprivileged user.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Evaluates changes and outputs vulnerability health results.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0" y="1645920"/>
            <a:ext cx="4846320" cy="4389120"/>
          </a:xfrm>
          <a:prstGeom prst="rect">
            <a:avLst/>
          </a:prstGeom>
          <a:solidFill>
            <a:srgbClr val="1F2937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FROM ubuntu:20.04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RUN apt-get update &amp;&amp; apt-get install -y gcc make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# Create read-only, root-owned file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RUN mkdir -p /var/secret &amp;&amp; \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    echo "SECRET_KEY" &gt; /var/secret/target.txt &amp;&amp; \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    chmod 444 /var/secret/target.txt &amp;&amp; \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    chown root:root /var/secret/target.txt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# Setup restricted user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RUN useradd -m -s /bin/bash victim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COPY dirtyc0w.c /home/victim/dirtyc0w.c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COPY run_demo.sh /home/victim/run_demo.sh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USER victim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WORKDIR /home/victim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CMD ["/bin/bash", "run_demo.sh"]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PRACTICAL LAB SHOWCASE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Trebuchet MS"/>
              </a:defRPr>
            </a:pPr>
            <a:r>
              <a:t>Executing the Lab &amp; Outcome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•  Step 1: Building the Container Image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Command: docker build -t dirtycow-lab .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•  Step 2: Launching the Lab Container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Command: docker run --rm -it dirtycow-lab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•  Possible Outcome A: Attack Successful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If the host OS runs a pre-patch Linux kernel (before Oct 2016).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Result: Target file successfully overwritten to 'DIRTY_COW_SUCCESS!!!'.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•  Possible Outcome B: Attack Prevented / Patched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If the host runs a modern patched kernel (e.g., standard Windows WSL2 or modern Linux host).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Result: Exploit runs but target remains safe; kernel correctly serializes COW memory writes.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0" y="1645920"/>
            <a:ext cx="4846320" cy="4389120"/>
          </a:xfrm>
          <a:prstGeom prst="rect">
            <a:avLst/>
          </a:prstGeom>
          <a:solidFill>
            <a:srgbClr val="1F2937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=== Dirty COW (CVE-2016-5195) Container Lab ===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[*] System Diagnostics: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  - Current User: victim (UID: 1000)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  - Host Linux Kernel: 5.15.133.1-microsoft-standard-WSL2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[*] Examining Target File Properties: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  - File Owner: root | Permissions: -r--r--r--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  - Current Contents: THIS_IS_A_SECRET_KEY_THAT_IS_READ_ONLY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[*] Compiling Exploit C Code...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[+] Compilation successful! Output binary: ./dirtyc0w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[*] Triggering Exploit...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procSelfMemThread completed 10000000 writes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[*] Verifying Attack Status: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onsolas"/>
              </a:defRPr>
            </a:pPr>
            <a:r>
              <a:t>[+] ATTACK PREVENTED / MITIGATED (Patched Kernel)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SECURITY IMPACT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Trebuchet MS"/>
              </a:defRPr>
            </a:pPr>
            <a:r>
              <a:t>Real-world Exploitation &amp; Notable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•  Mass Android Rooting Tools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Dirty COW was quickly weaponized to root billions of Android devices.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Allowed attackers to bypass Android's SELinux rules and gain system root permissions.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•  Shared Hosting Infrastructure Risks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Cloud providers hosting un-isolated VPS environments faced high risk.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A single low-tier user could corrupt shared system libraries on the hypervisor host.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•  Malware Integration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Integrated into Linux botnets and advanced persistent threats (APTs).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Used as standard post-exploitation tools to secure root backdoors.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0" y="1645920"/>
            <a:ext cx="4846320" cy="4389120"/>
          </a:xfrm>
          <a:prstGeom prst="rect">
            <a:avLst/>
          </a:prstGeom>
          <a:solidFill>
            <a:srgbClr val="1F2937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400"/>
              </a:spcAft>
              <a:defRPr sz="1600" b="1">
                <a:solidFill>
                  <a:srgbClr val="FFFFFF"/>
                </a:solidFill>
                <a:latin typeface="Trebuchet MS"/>
              </a:defRPr>
            </a:pPr>
            <a:r>
              <a:t>WEAPONIZATION HISTORY</a:t>
            </a:r>
          </a:p>
          <a:p>
            <a:pPr>
              <a:spcAft>
                <a:spcPts val="1000"/>
              </a:spcAft>
              <a:defRPr sz="1100" b="1">
                <a:solidFill>
                  <a:srgbClr val="EF4444"/>
                </a:solidFill>
                <a:latin typeface="Calibri"/>
              </a:defRPr>
            </a:pPr>
            <a:r>
              <a:t>Exploitation Vectors</a:t>
            </a:r>
          </a:p>
          <a:p>
            <a:pPr>
              <a:spcAft>
                <a:spcPts val="600"/>
              </a:spcAft>
              <a:defRPr sz="1300">
                <a:solidFill>
                  <a:srgbClr val="9CA3AF"/>
                </a:solidFill>
                <a:latin typeface="Calibri"/>
              </a:defRPr>
            </a:pPr>
            <a:r>
              <a:t>• Android Root: Bypassed early Android security scopes natively without bootloader unlock.</a:t>
            </a:r>
          </a:p>
          <a:p>
            <a:pPr>
              <a:spcAft>
                <a:spcPts val="600"/>
              </a:spcAft>
              <a:defRPr sz="1300">
                <a:solidFill>
                  <a:srgbClr val="9CA3AF"/>
                </a:solidFill>
                <a:latin typeface="Calibri"/>
              </a:defRPr>
            </a:pPr>
            <a:r>
              <a:t>• Malware: Integrated into ELF binaries for silent kernel-level privilege elevation.</a:t>
            </a:r>
          </a:p>
          <a:p>
            <a:pPr>
              <a:spcAft>
                <a:spcPts val="600"/>
              </a:spcAft>
              <a:defRPr sz="1300">
                <a:solidFill>
                  <a:srgbClr val="9CA3AF"/>
                </a:solidFill>
                <a:latin typeface="Calibri"/>
              </a:defRPr>
            </a:pPr>
            <a:r>
              <a:t>• Container escapes: Exploited in shared multi-tenant clusters before container security runtimes matured.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REMEDIATION AND DEFENCE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Trebuchet MS"/>
              </a:defRPr>
            </a:pPr>
            <a:r>
              <a:t>Defense &amp; Hardening Strategies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•  Primary Mitigation: Host Patching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Always patch the underlying host Linux kernel. Since containers share the host kernel, patching the host automatically secures all running containers.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•  Docker Security Best Practices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Run containers with non-root default users (`USER victim`).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Implement read-only container filesystems (`--read-only`) to limit disk write vectors.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•  Security Profiles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Enable AppArmor or SELinux profiles to restrict container interactions.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Configure custom `seccomp` filters to restrict dangerous system calls if not required (e.g. blocking /proc modifications).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0" y="1645920"/>
            <a:ext cx="4846320" cy="4389120"/>
          </a:xfrm>
          <a:prstGeom prst="rect">
            <a:avLst/>
          </a:prstGeom>
          <a:solidFill>
            <a:srgbClr val="1F293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400"/>
              </a:spcAft>
              <a:defRPr sz="1600" b="1">
                <a:solidFill>
                  <a:srgbClr val="FFFFFF"/>
                </a:solidFill>
                <a:latin typeface="Trebuchet MS"/>
              </a:defRPr>
            </a:pPr>
            <a:r>
              <a:t>CONTAINER HARDENING RULES</a:t>
            </a:r>
          </a:p>
          <a:p>
            <a:pPr>
              <a:spcAft>
                <a:spcPts val="1000"/>
              </a:spcAft>
              <a:defRPr sz="1100" b="1">
                <a:solidFill>
                  <a:srgbClr val="06B6D4"/>
                </a:solidFill>
                <a:latin typeface="Calibri"/>
              </a:defRPr>
            </a:pPr>
            <a:r>
              <a:t>Host Defense Guidelines</a:t>
            </a:r>
          </a:p>
          <a:p>
            <a:pPr>
              <a:spcAft>
                <a:spcPts val="600"/>
              </a:spcAft>
              <a:defRPr sz="1300">
                <a:solidFill>
                  <a:srgbClr val="9CA3AF"/>
                </a:solidFill>
                <a:latin typeface="Calibri"/>
              </a:defRPr>
            </a:pPr>
            <a:r>
              <a:t>• Kernel Patching: Update Linux hosts immediately.</a:t>
            </a:r>
          </a:p>
          <a:p>
            <a:pPr>
              <a:spcAft>
                <a:spcPts val="600"/>
              </a:spcAft>
              <a:defRPr sz="1300">
                <a:solidFill>
                  <a:srgbClr val="9CA3AF"/>
                </a:solidFill>
                <a:latin typeface="Calibri"/>
              </a:defRPr>
            </a:pPr>
            <a:r>
              <a:t>• Minimal Runtimes: Use container profiles to restrict unnecessary privileges.</a:t>
            </a:r>
          </a:p>
          <a:p>
            <a:pPr>
              <a:spcAft>
                <a:spcPts val="600"/>
              </a:spcAft>
              <a:defRPr sz="1300">
                <a:solidFill>
                  <a:srgbClr val="9CA3AF"/>
                </a:solidFill>
                <a:latin typeface="Calibri"/>
              </a:defRPr>
            </a:pPr>
            <a:r>
              <a:t>• Explicit Seccomp: Limit dangerous syscall access by default.</a:t>
            </a:r>
          </a:p>
          <a:p>
            <a:pPr>
              <a:spcAft>
                <a:spcPts val="600"/>
              </a:spcAft>
              <a:defRPr sz="1300">
                <a:solidFill>
                  <a:srgbClr val="9CA3AF"/>
                </a:solidFill>
                <a:latin typeface="Calibri"/>
              </a:defRPr>
            </a:pPr>
            <a:r>
              <a:t>• Read-Only Containers: Mount filesystems as read-only to stop post-exploitation persistence.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TECHNICAL DEBRIEFING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Trebuchet MS"/>
              </a:defRPr>
            </a:pPr>
            <a:r>
              <a:t>Conclusion &amp; Core Lessons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•  Key Takeaway 1: Kernel Vulnerabilities are Shared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Container isolation is only as secure as the shared host kernel.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Kernel security bugs completely bypass container namespace boundaries.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•  Key Takeaway 2: Race Conditions are Highly Lethal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Non-atomic multi-step kernel operations create critical race conditions.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Even simple logic can bypass strict physical hardware access controls.</a:t>
            </a:r>
          </a:p>
          <a:p>
            <a:pPr>
              <a:spcAft>
                <a:spcPts val="1200"/>
              </a:spcAft>
              <a:defRPr sz="1600" b="1">
                <a:solidFill>
                  <a:srgbClr val="06B6D4"/>
                </a:solidFill>
                <a:latin typeface="Calibri"/>
              </a:defRPr>
            </a:pPr>
            <a:r>
              <a:t>⚡  Security Paradigm Shift</a:t>
            </a:r>
          </a:p>
          <a:p>
            <a:pPr>
              <a:spcAft>
                <a:spcPts val="12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   •  Dirty COW forced a major evolution in container security runtimes, emphasizing host patching, seccomp filters, and hardened sandboxes (gVisor/Kata Containers).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0" y="1645920"/>
            <a:ext cx="4846320" cy="4389120"/>
          </a:xfrm>
          <a:prstGeom prst="rect">
            <a:avLst/>
          </a:prstGeom>
          <a:solidFill>
            <a:srgbClr val="1F293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400"/>
              </a:spcAft>
              <a:defRPr sz="1600" b="1">
                <a:solidFill>
                  <a:srgbClr val="FFFFFF"/>
                </a:solidFill>
                <a:latin typeface="Trebuchet MS"/>
              </a:defRPr>
            </a:pPr>
            <a:r>
              <a:t>THE GOLDEN RULE OF CONTAINERS</a:t>
            </a:r>
          </a:p>
          <a:p>
            <a:pPr>
              <a:spcAft>
                <a:spcPts val="1000"/>
              </a:spcAft>
              <a:defRPr sz="1100" b="1">
                <a:solidFill>
                  <a:srgbClr val="06B6D4"/>
                </a:solidFill>
                <a:latin typeface="Calibri"/>
              </a:defRPr>
            </a:pPr>
            <a:r>
              <a:t>Final Recommendation</a:t>
            </a:r>
          </a:p>
          <a:p>
            <a:pPr>
              <a:spcAft>
                <a:spcPts val="600"/>
              </a:spcAft>
              <a:defRPr sz="1300">
                <a:solidFill>
                  <a:srgbClr val="9CA3AF"/>
                </a:solidFill>
                <a:latin typeface="Calibri"/>
              </a:defRPr>
            </a:pPr>
            <a:r>
              <a:t>• Containers are NOT isolation virtual machines.</a:t>
            </a:r>
          </a:p>
          <a:p>
            <a:pPr>
              <a:spcAft>
                <a:spcPts val="600"/>
              </a:spcAft>
              <a:defRPr sz="1300">
                <a:solidFill>
                  <a:srgbClr val="9CA3AF"/>
                </a:solidFill>
                <a:latin typeface="Calibri"/>
              </a:defRPr>
            </a:pPr>
            <a:r>
              <a:t>• Always treat host kernel patch levels as the absolute foundation of container cluster security.</a:t>
            </a:r>
          </a:p>
          <a:p>
            <a:pPr>
              <a:spcAft>
                <a:spcPts val="600"/>
              </a:spcAft>
              <a:defRPr sz="1300">
                <a:solidFill>
                  <a:srgbClr val="9CA3AF"/>
                </a:solidFill>
                <a:latin typeface="Calibri"/>
              </a:defRPr>
            </a:pPr>
            <a:r>
              <a:t>• Implement a defense-in-depth architecture to limit exposure if a kernel compromise occurs.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